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58"/>
  </p:normalViewPr>
  <p:slideViewPr>
    <p:cSldViewPr snapToGrid="0">
      <p:cViewPr>
        <p:scale>
          <a:sx n="85" d="100"/>
          <a:sy n="85" d="100"/>
        </p:scale>
        <p:origin x="3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67D545-4EF3-465B-8034-3B1E1F89E5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023E0D98-75C9-4C1D-B9C0-B98E4A44DE70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266700" cy="28575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8DE7B1E0-E8AA-4AF1-B5D2-7441CB1FCE30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48089-B33C-4D6F-BF4B-EC1334D359D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382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dirty="0">
                <a:solidFill>
                  <a:srgbClr val="F6F3EC"/>
                </a:solidFill>
                <a:latin typeface="Aptos Display"/>
                <a:ea typeface="Aptos Display"/>
                <a:cs typeface="Aptos Display"/>
              </a:rPr>
              <a:t>The project scope is a governed Dutch mortgage loan platform.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874E76-50E0-4054-8D01-FB0E38155EA7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It combines synthetic portfolio data, NL-specific analytics, validation, stress testing, anomaly detection, and AI-assisted build governance.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298685-CC1B-4F9D-8275-4AAA30C9B39D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8191500" cy="4762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097EDB-E4FF-4D2B-9891-9C1B1B01A184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76200" cy="47625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B9D630-ABEA-44B2-BDF7-E2473F7611C1}"/>
              </a:ext>
            </a:extLst>
          </p:cNvPr>
          <p:cNvSpPr>
            <a:spLocks noGrp="1"/>
          </p:cNvSpPr>
          <p:nvPr/>
        </p:nvSpPr>
        <p:spPr>
          <a:xfrm>
            <a:off x="895350" y="30765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Data contract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F41412-B8C8-402A-9A83-2416BE2F80B9}"/>
              </a:ext>
            </a:extLst>
          </p:cNvPr>
          <p:cNvSpPr>
            <a:spLocks noGrp="1"/>
          </p:cNvSpPr>
          <p:nvPr/>
        </p:nvSpPr>
        <p:spPr>
          <a:xfrm>
            <a:off x="2800350" y="3076575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Pydantic schema, deterministic synthetic tape, reference tables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AB1CC-649F-49CC-996B-F290F5334D22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8191500" cy="4762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3F2258-0ABF-4859-8380-AD923BE2AAE6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76200" cy="47625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0ABFF5-2418-452F-B9EC-04C42105D402}"/>
              </a:ext>
            </a:extLst>
          </p:cNvPr>
          <p:cNvSpPr>
            <a:spLocks noGrp="1"/>
          </p:cNvSpPr>
          <p:nvPr/>
        </p:nvSpPr>
        <p:spPr>
          <a:xfrm>
            <a:off x="895350" y="37052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Risk analytics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1D6E4E-0E4D-48C2-8BBC-997E3F2C7A47}"/>
              </a:ext>
            </a:extLst>
          </p:cNvPr>
          <p:cNvSpPr>
            <a:spLocks noGrp="1"/>
          </p:cNvSpPr>
          <p:nvPr/>
        </p:nvSpPr>
        <p:spPr>
          <a:xfrm>
            <a:off x="2800350" y="3705225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Quick scan, portfolio cohorts, IFRS 9 staging, ECL signals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37B88F-36FF-49FE-B4CE-FEDBBF3E32AA}"/>
              </a:ext>
            </a:extLst>
          </p:cNvPr>
          <p:cNvSpPr>
            <a:spLocks noGrp="1"/>
          </p:cNvSpPr>
          <p:nvPr/>
        </p:nvSpPr>
        <p:spPr>
          <a:xfrm>
            <a:off x="666750" y="4229100"/>
            <a:ext cx="8191500" cy="4762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BB4A91-F9FB-4371-96AE-B4DB802B80AA}"/>
              </a:ext>
            </a:extLst>
          </p:cNvPr>
          <p:cNvSpPr>
            <a:spLocks noGrp="1"/>
          </p:cNvSpPr>
          <p:nvPr/>
        </p:nvSpPr>
        <p:spPr>
          <a:xfrm>
            <a:off x="666750" y="4229100"/>
            <a:ext cx="76200" cy="47625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87456E-E1EC-423C-B2EF-A56A58672D20}"/>
              </a:ext>
            </a:extLst>
          </p:cNvPr>
          <p:cNvSpPr>
            <a:spLocks noGrp="1"/>
          </p:cNvSpPr>
          <p:nvPr/>
        </p:nvSpPr>
        <p:spPr>
          <a:xfrm>
            <a:off x="895350" y="43338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Review checks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2D9F6C-18D7-4208-84EB-AA109EAE96E0}"/>
              </a:ext>
            </a:extLst>
          </p:cNvPr>
          <p:cNvSpPr>
            <a:spLocks noGrp="1"/>
          </p:cNvSpPr>
          <p:nvPr/>
        </p:nvSpPr>
        <p:spPr>
          <a:xfrm>
            <a:off x="2800350" y="4333875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NHG, HRA, Nibud LTI, AnaCredit, BCBS 239, stress sanity bands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079AAB-8EB8-4D93-AACC-059034645210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8191500" cy="4762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71943D-5D67-42A8-A839-C1F2D4ECA808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76200" cy="476250"/>
          </a:xfrm>
          <a:prstGeom prst="rect">
            <a:avLst/>
          </a:prstGeom>
          <a:solidFill>
            <a:srgbClr val="8C6A9E"/>
          </a:solidFill>
          <a:ln w="0">
            <a:solidFill>
              <a:srgbClr val="8C6A9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D2D313-3A42-4833-A1E7-748B7C553B2F}"/>
              </a:ext>
            </a:extLst>
          </p:cNvPr>
          <p:cNvSpPr>
            <a:spLocks noGrp="1"/>
          </p:cNvSpPr>
          <p:nvPr/>
        </p:nvSpPr>
        <p:spPr>
          <a:xfrm>
            <a:off x="895350" y="49625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5F5318-5ED3-4FD2-8236-E09D15794232}"/>
              </a:ext>
            </a:extLst>
          </p:cNvPr>
          <p:cNvSpPr>
            <a:spLocks noGrp="1"/>
          </p:cNvSpPr>
          <p:nvPr/>
        </p:nvSpPr>
        <p:spPr>
          <a:xfrm>
            <a:off x="2800350" y="4962525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3LoD sign-off, eval gates, AI commit controls, fail-gracefully playbook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3AB4CF-8D48-4FF7-A144-76265C5EDD73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2171700" cy="2571750"/>
          </a:xfrm>
          <a:prstGeom prst="rect">
            <a:avLst/>
          </a:prstGeom>
          <a:solidFill>
            <a:srgbClr val="F6F3EC"/>
          </a:solidFill>
          <a:ln w="0">
            <a:solidFill>
              <a:srgbClr val="F6F3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810AF6-25AE-4D0E-8E6F-EE6A44080E24}"/>
              </a:ext>
            </a:extLst>
          </p:cNvPr>
          <p:cNvSpPr>
            <a:spLocks noGrp="1"/>
          </p:cNvSpPr>
          <p:nvPr/>
        </p:nvSpPr>
        <p:spPr>
          <a:xfrm>
            <a:off x="9563100" y="3181350"/>
            <a:ext cx="1695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Current repo status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F29523-3326-4D6B-B813-E07FA414CA47}"/>
              </a:ext>
            </a:extLst>
          </p:cNvPr>
          <p:cNvSpPr>
            <a:spLocks noGrp="1"/>
          </p:cNvSpPr>
          <p:nvPr/>
        </p:nvSpPr>
        <p:spPr>
          <a:xfrm>
            <a:off x="9525000" y="3562350"/>
            <a:ext cx="171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Day-0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A7758A-BF1F-4DB3-901D-8E9DC90A1900}"/>
              </a:ext>
            </a:extLst>
          </p:cNvPr>
          <p:cNvSpPr>
            <a:spLocks noGrp="1"/>
          </p:cNvSpPr>
          <p:nvPr/>
        </p:nvSpPr>
        <p:spPr>
          <a:xfrm>
            <a:off x="9525000" y="392430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working scaffold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F6AAA0-D8A8-4947-B2E6-F7915CBE345B}"/>
              </a:ext>
            </a:extLst>
          </p:cNvPr>
          <p:cNvSpPr>
            <a:spLocks noGrp="1"/>
          </p:cNvSpPr>
          <p:nvPr/>
        </p:nvSpPr>
        <p:spPr>
          <a:xfrm>
            <a:off x="9696450" y="4381500"/>
            <a:ext cx="914400" cy="247650"/>
          </a:xfrm>
          <a:prstGeom prst="rect">
            <a:avLst/>
          </a:prstGeom>
          <a:solidFill>
            <a:srgbClr val="DFEADC"/>
          </a:solidFill>
          <a:ln w="9525">
            <a:solidFill>
              <a:srgbClr val="577A4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EDF0DD-8EB5-40F1-B2C7-0C7695BF5F86}"/>
              </a:ext>
            </a:extLst>
          </p:cNvPr>
          <p:cNvSpPr>
            <a:spLocks noGrp="1"/>
          </p:cNvSpPr>
          <p:nvPr/>
        </p:nvSpPr>
        <p:spPr>
          <a:xfrm>
            <a:off x="9791700" y="4429125"/>
            <a:ext cx="723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77A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77A4F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D5FE38-D119-4AB4-913C-62CE42637216}"/>
              </a:ext>
            </a:extLst>
          </p:cNvPr>
          <p:cNvSpPr>
            <a:spLocks noGrp="1"/>
          </p:cNvSpPr>
          <p:nvPr/>
        </p:nvSpPr>
        <p:spPr>
          <a:xfrm>
            <a:off x="9715500" y="4762500"/>
            <a:ext cx="876300" cy="247650"/>
          </a:xfrm>
          <a:prstGeom prst="rect">
            <a:avLst/>
          </a:prstGeom>
          <a:solidFill>
            <a:srgbClr val="F1E2B8"/>
          </a:solidFill>
          <a:ln w="9525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F0F6EF-9848-42EB-8C15-0F68E4B8D53D}"/>
              </a:ext>
            </a:extLst>
          </p:cNvPr>
          <p:cNvSpPr>
            <a:spLocks noGrp="1"/>
          </p:cNvSpPr>
          <p:nvPr/>
        </p:nvSpPr>
        <p:spPr>
          <a:xfrm>
            <a:off x="9810750" y="481012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C9D66E-1069-4649-89B6-668B62A9BA3D}"/>
              </a:ext>
            </a:extLst>
          </p:cNvPr>
          <p:cNvSpPr>
            <a:spLocks noGrp="1"/>
          </p:cNvSpPr>
          <p:nvPr/>
        </p:nvSpPr>
        <p:spPr>
          <a:xfrm>
            <a:off x="9563100" y="514350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Target docs; scaffold code.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514550-1A40-4D15-9396-86E0689777A0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README, app/streamlit_app.py, src/loan_tape/schema.py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B9A997-0821-42D1-9B27-E72A9A7364B3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950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14261B1-C846-487C-B111-1E717E9B07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F6F3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F27FA1F1-2845-424D-89C6-38C424C5AECD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28575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A2137EED-45EB-4E5B-A02D-CEFF7C89D97D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32C0FB-0574-48EB-A3E4-BB5E0451ADA1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88582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Requirements are anchored in Dutch mortgage practice and reviewability.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3D7B47-B79B-462B-B2DE-F5F600B8056D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scope is defined by what a credit-risk team can analyze and what a 2nd-line reviewer can clear.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D8A7E0-3B7A-467E-A1BF-81F0DFCA9CA0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21145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3FC33-A60B-4EA3-95EC-67E753DDBF4A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2114550" cy="7620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69738-D4F4-4203-AF8F-BAD45ADACE48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 contract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9E349A-3D37-4E1D-99EA-30F91C0CCAD0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77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65C3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65C3A"/>
                </a:solidFill>
                <a:latin typeface="Aptos Display"/>
                <a:ea typeface="Aptos Display"/>
                <a:cs typeface="Aptos Display"/>
              </a:rPr>
              <a:t>Dutch mortgage fields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FD75FC-7A00-4046-96CB-378529B51E41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7716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Pydantic v2 schema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reference tables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synthetic tape hash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25A23D-7CB3-49AE-919D-3A3237F8209B}"/>
              </a:ext>
            </a:extLst>
          </p:cNvPr>
          <p:cNvSpPr>
            <a:spLocks noGrp="1"/>
          </p:cNvSpPr>
          <p:nvPr/>
        </p:nvSpPr>
        <p:spPr>
          <a:xfrm>
            <a:off x="2762250" y="2095500"/>
            <a:ext cx="21145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8763AA-5F26-474A-899E-D3CB9446D1A1}"/>
              </a:ext>
            </a:extLst>
          </p:cNvPr>
          <p:cNvSpPr>
            <a:spLocks noGrp="1"/>
          </p:cNvSpPr>
          <p:nvPr/>
        </p:nvSpPr>
        <p:spPr>
          <a:xfrm>
            <a:off x="2762250" y="2095500"/>
            <a:ext cx="2114550" cy="7620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336F7B-8A85-449C-93F9-8D14C32B0194}"/>
              </a:ext>
            </a:extLst>
          </p:cNvPr>
          <p:cNvSpPr>
            <a:spLocks noGrp="1"/>
          </p:cNvSpPr>
          <p:nvPr/>
        </p:nvSpPr>
        <p:spPr>
          <a:xfrm>
            <a:off x="2933700" y="23622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Risk analytics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24B6E-A45B-46DD-ABF7-A5510622C889}"/>
              </a:ext>
            </a:extLst>
          </p:cNvPr>
          <p:cNvSpPr>
            <a:spLocks noGrp="1"/>
          </p:cNvSpPr>
          <p:nvPr/>
        </p:nvSpPr>
        <p:spPr>
          <a:xfrm>
            <a:off x="2933700" y="2743200"/>
            <a:ext cx="177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C7A7B"/>
                </a:solidFill>
                <a:latin typeface="Aptos Display"/>
                <a:ea typeface="Aptos Display"/>
                <a:cs typeface="Aptos Display"/>
              </a:rPr>
              <a:t>Portfolio risk readout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1AE082-221A-4164-BEE3-3165FF9688B9}"/>
              </a:ext>
            </a:extLst>
          </p:cNvPr>
          <p:cNvSpPr>
            <a:spLocks noGrp="1"/>
          </p:cNvSpPr>
          <p:nvPr/>
        </p:nvSpPr>
        <p:spPr>
          <a:xfrm>
            <a:off x="2933700" y="3448050"/>
            <a:ext cx="17716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ECL inputs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IFRS 9 stage mix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vintage and LTV views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B21245-14AF-4753-8036-2AB6BA2AFAE0}"/>
              </a:ext>
            </a:extLst>
          </p:cNvPr>
          <p:cNvSpPr>
            <a:spLocks noGrp="1"/>
          </p:cNvSpPr>
          <p:nvPr/>
        </p:nvSpPr>
        <p:spPr>
          <a:xfrm>
            <a:off x="5010150" y="2095500"/>
            <a:ext cx="21145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3AAAFF-2A49-4C93-A3D4-C7EE0DBE04CA}"/>
              </a:ext>
            </a:extLst>
          </p:cNvPr>
          <p:cNvSpPr>
            <a:spLocks noGrp="1"/>
          </p:cNvSpPr>
          <p:nvPr/>
        </p:nvSpPr>
        <p:spPr>
          <a:xfrm>
            <a:off x="5010150" y="2095500"/>
            <a:ext cx="2114550" cy="7620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FEFBE9-F7DC-4C04-9EB4-61D6F7467572}"/>
              </a:ext>
            </a:extLst>
          </p:cNvPr>
          <p:cNvSpPr>
            <a:spLocks noGrp="1"/>
          </p:cNvSpPr>
          <p:nvPr/>
        </p:nvSpPr>
        <p:spPr>
          <a:xfrm>
            <a:off x="5181600" y="23622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9371DF-1A47-4603-9A4C-C8650872F898}"/>
              </a:ext>
            </a:extLst>
          </p:cNvPr>
          <p:cNvSpPr>
            <a:spLocks noGrp="1"/>
          </p:cNvSpPr>
          <p:nvPr/>
        </p:nvSpPr>
        <p:spPr>
          <a:xfrm>
            <a:off x="5181600" y="2743200"/>
            <a:ext cx="177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6923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69232"/>
                </a:solidFill>
                <a:latin typeface="Aptos Display"/>
                <a:ea typeface="Aptos Display"/>
                <a:cs typeface="Aptos Display"/>
              </a:rPr>
              <a:t>Defensible findings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F2336A-948A-4646-8064-D5C3B0E6D97E}"/>
              </a:ext>
            </a:extLst>
          </p:cNvPr>
          <p:cNvSpPr>
            <a:spLocks noGrp="1"/>
          </p:cNvSpPr>
          <p:nvPr/>
        </p:nvSpPr>
        <p:spPr>
          <a:xfrm>
            <a:off x="5181600" y="3448050"/>
            <a:ext cx="17716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NHG cap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HRA eligibility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Nibud LTI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AnaCredit / BCBS 239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950741-B566-40AD-9023-F6054187A273}"/>
              </a:ext>
            </a:extLst>
          </p:cNvPr>
          <p:cNvSpPr>
            <a:spLocks noGrp="1"/>
          </p:cNvSpPr>
          <p:nvPr/>
        </p:nvSpPr>
        <p:spPr>
          <a:xfrm>
            <a:off x="7258050" y="2095500"/>
            <a:ext cx="21145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6334EE-9577-40F9-86F5-D10A843B2384}"/>
              </a:ext>
            </a:extLst>
          </p:cNvPr>
          <p:cNvSpPr>
            <a:spLocks noGrp="1"/>
          </p:cNvSpPr>
          <p:nvPr/>
        </p:nvSpPr>
        <p:spPr>
          <a:xfrm>
            <a:off x="7258050" y="2095500"/>
            <a:ext cx="2114550" cy="76200"/>
          </a:xfrm>
          <a:prstGeom prst="rect">
            <a:avLst/>
          </a:prstGeom>
          <a:solidFill>
            <a:srgbClr val="8C6A9E"/>
          </a:solidFill>
          <a:ln w="0">
            <a:solidFill>
              <a:srgbClr val="8C6A9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5879B2-09D8-4ADD-9BEF-6349085B37FC}"/>
              </a:ext>
            </a:extLst>
          </p:cNvPr>
          <p:cNvSpPr>
            <a:spLocks noGrp="1"/>
          </p:cNvSpPr>
          <p:nvPr/>
        </p:nvSpPr>
        <p:spPr>
          <a:xfrm>
            <a:off x="7429500" y="23622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54604A-F705-4F7E-B59A-AC49C30D8465}"/>
              </a:ext>
            </a:extLst>
          </p:cNvPr>
          <p:cNvSpPr>
            <a:spLocks noGrp="1"/>
          </p:cNvSpPr>
          <p:nvPr/>
        </p:nvSpPr>
        <p:spPr>
          <a:xfrm>
            <a:off x="7429500" y="2743200"/>
            <a:ext cx="177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8C6A9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8C6A9E"/>
                </a:solidFill>
                <a:latin typeface="Aptos Display"/>
                <a:ea typeface="Aptos Display"/>
                <a:cs typeface="Aptos Display"/>
              </a:rPr>
              <a:t>Human sign-off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8E6CD7-E92B-455C-AB44-24E78968275F}"/>
              </a:ext>
            </a:extLst>
          </p:cNvPr>
          <p:cNvSpPr>
            <a:spLocks noGrp="1"/>
          </p:cNvSpPr>
          <p:nvPr/>
        </p:nvSpPr>
        <p:spPr>
          <a:xfrm>
            <a:off x="7429500" y="3448050"/>
            <a:ext cx="17716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3LoD ownership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2nd-line gates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model inventory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CECC9D-ED05-4C4A-A546-F64A1FD290E4}"/>
              </a:ext>
            </a:extLst>
          </p:cNvPr>
          <p:cNvSpPr>
            <a:spLocks noGrp="1"/>
          </p:cNvSpPr>
          <p:nvPr/>
        </p:nvSpPr>
        <p:spPr>
          <a:xfrm>
            <a:off x="9505950" y="2095500"/>
            <a:ext cx="21145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C55290-DC89-4871-8D05-943B45CC3B2F}"/>
              </a:ext>
            </a:extLst>
          </p:cNvPr>
          <p:cNvSpPr>
            <a:spLocks noGrp="1"/>
          </p:cNvSpPr>
          <p:nvPr/>
        </p:nvSpPr>
        <p:spPr>
          <a:xfrm>
            <a:off x="9505950" y="2095500"/>
            <a:ext cx="2114550" cy="76200"/>
          </a:xfrm>
          <a:prstGeom prst="rect">
            <a:avLst/>
          </a:prstGeom>
          <a:solidFill>
            <a:srgbClr val="577A4F"/>
          </a:solidFill>
          <a:ln w="0">
            <a:solidFill>
              <a:srgbClr val="577A4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8AD75D-B32B-4101-9B31-5FFA9099556B}"/>
              </a:ext>
            </a:extLst>
          </p:cNvPr>
          <p:cNvSpPr>
            <a:spLocks noGrp="1"/>
          </p:cNvSpPr>
          <p:nvPr/>
        </p:nvSpPr>
        <p:spPr>
          <a:xfrm>
            <a:off x="9677400" y="23622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harness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BD0817-F0F5-44FA-AD72-4D7ADCE1B929}"/>
              </a:ext>
            </a:extLst>
          </p:cNvPr>
          <p:cNvSpPr>
            <a:spLocks noGrp="1"/>
          </p:cNvSpPr>
          <p:nvPr/>
        </p:nvSpPr>
        <p:spPr>
          <a:xfrm>
            <a:off x="9677400" y="2743200"/>
            <a:ext cx="177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77A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77A4F"/>
                </a:solidFill>
                <a:latin typeface="Aptos Display"/>
                <a:ea typeface="Aptos Display"/>
                <a:cs typeface="Aptos Display"/>
              </a:rPr>
              <a:t>AI-safe delivery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87A709-D8AB-45CE-836D-B7F65E186312}"/>
              </a:ext>
            </a:extLst>
          </p:cNvPr>
          <p:cNvSpPr>
            <a:spLocks noGrp="1"/>
          </p:cNvSpPr>
          <p:nvPr/>
        </p:nvSpPr>
        <p:spPr>
          <a:xfrm>
            <a:off x="9677400" y="3448050"/>
            <a:ext cx="17716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TDD guard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eval rubrics</a:t>
            </a:r>
          </a:p>
          <a:p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secrets and mass-change blocks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5D206B-C5E4-43B8-A649-7B4CF5DF4438}"/>
              </a:ext>
            </a:extLst>
          </p:cNvPr>
          <p:cNvSpPr>
            <a:spLocks noGrp="1"/>
          </p:cNvSpPr>
          <p:nvPr/>
        </p:nvSpPr>
        <p:spPr>
          <a:xfrm>
            <a:off x="1009650" y="5524500"/>
            <a:ext cx="10172700" cy="45720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BE2E36-CA25-4927-9B91-CA1AB85AB0C3}"/>
              </a:ext>
            </a:extLst>
          </p:cNvPr>
          <p:cNvSpPr>
            <a:spLocks noGrp="1"/>
          </p:cNvSpPr>
          <p:nvPr/>
        </p:nvSpPr>
        <p:spPr>
          <a:xfrm>
            <a:off x="1238250" y="5657850"/>
            <a:ext cx="969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Scope rule: every quantitative requirement needs a source, a test/eval, and a governance owner before it becomes production behavior.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92A2A6-4F01-400A-9F7C-8351D867A39A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README, docs/domain-primer.md, docs/governance/*.md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F67E63-EA9E-4CE2-BABC-4823925E44FB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0251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E1DCDD35-4AD2-45C8-B562-9F5DFCF20E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F6F3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4795DF23-1099-4028-92B1-20CAD0D5B9A5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28575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984E1E50-0C64-4AA8-8670-6EF0DC7DE223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AEC7BC-7B18-4439-8E80-03E852441011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88582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architecture keeps schema, analytics, and governance state behind clear boundaries.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5DC888-45EC-4637-AADA-73FA9D9353FD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product system is deliberately simple: one schema contract, one library layer, thin UI pages, and auditable state.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246747-3D80-4812-AFA2-17C2BEB07A7B}"/>
              </a:ext>
            </a:extLst>
          </p:cNvPr>
          <p:cNvSpPr>
            <a:spLocks noGrp="1"/>
          </p:cNvSpPr>
          <p:nvPr/>
        </p:nvSpPr>
        <p:spPr>
          <a:xfrm>
            <a:off x="495300" y="2152650"/>
            <a:ext cx="190500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5F884B-01CE-4EE6-84BD-CCBB72390AF6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5F7A45-E3F5-4060-92C1-5B7FF9D50440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4097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D8AAEB-FE5C-4383-AFB6-9D10CE6BC43B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66675" cy="80010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5575D0-746C-4A11-A91F-2529AA72BC16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Loan tape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7DDA07-39AC-4B66-8F47-433F836DD35A}"/>
              </a:ext>
            </a:extLst>
          </p:cNvPr>
          <p:cNvSpPr>
            <a:spLocks noGrp="1"/>
          </p:cNvSpPr>
          <p:nvPr/>
        </p:nvSpPr>
        <p:spPr>
          <a:xfrm>
            <a:off x="914400" y="3038475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CSV / Parquet upload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98757D-7C37-40CE-B820-4528C915C033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14097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C69B79-9B8A-49F3-BACF-2C1FBA7908D6}"/>
              </a:ext>
            </a:extLst>
          </p:cNvPr>
          <p:cNvSpPr>
            <a:spLocks noGrp="1"/>
          </p:cNvSpPr>
          <p:nvPr/>
        </p:nvSpPr>
        <p:spPr>
          <a:xfrm>
            <a:off x="742950" y="3695700"/>
            <a:ext cx="66675" cy="80010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18ADB3-B272-45C8-9469-CC9ACA9F6F05}"/>
              </a:ext>
            </a:extLst>
          </p:cNvPr>
          <p:cNvSpPr>
            <a:spLocks noGrp="1"/>
          </p:cNvSpPr>
          <p:nvPr/>
        </p:nvSpPr>
        <p:spPr>
          <a:xfrm>
            <a:off x="914400" y="3819525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Reference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F4478A-1BAA-499C-BED0-36BC281C918B}"/>
              </a:ext>
            </a:extLst>
          </p:cNvPr>
          <p:cNvSpPr>
            <a:spLocks noGrp="1"/>
          </p:cNvSpPr>
          <p:nvPr/>
        </p:nvSpPr>
        <p:spPr>
          <a:xfrm>
            <a:off x="914400" y="4067175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NHG, HRA, Nibud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E503C5-763D-4813-9B55-91210978414E}"/>
              </a:ext>
            </a:extLst>
          </p:cNvPr>
          <p:cNvSpPr>
            <a:spLocks noGrp="1"/>
          </p:cNvSpPr>
          <p:nvPr/>
        </p:nvSpPr>
        <p:spPr>
          <a:xfrm>
            <a:off x="3000375" y="1943100"/>
            <a:ext cx="327660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C3E20F-5B94-4FB0-A855-45B723030BA0}"/>
              </a:ext>
            </a:extLst>
          </p:cNvPr>
          <p:cNvSpPr>
            <a:spLocks noGrp="1"/>
          </p:cNvSpPr>
          <p:nvPr/>
        </p:nvSpPr>
        <p:spPr>
          <a:xfrm>
            <a:off x="3171825" y="2076450"/>
            <a:ext cx="2933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src/loan_tape library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532F1-EEF6-433F-9F57-767B2A5E64DA}"/>
              </a:ext>
            </a:extLst>
          </p:cNvPr>
          <p:cNvSpPr>
            <a:spLocks noGrp="1"/>
          </p:cNvSpPr>
          <p:nvPr/>
        </p:nvSpPr>
        <p:spPr>
          <a:xfrm>
            <a:off x="3276600" y="2495550"/>
            <a:ext cx="1257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9F0C49-F713-45BD-96D1-645B8165A682}"/>
              </a:ext>
            </a:extLst>
          </p:cNvPr>
          <p:cNvSpPr>
            <a:spLocks noGrp="1"/>
          </p:cNvSpPr>
          <p:nvPr/>
        </p:nvSpPr>
        <p:spPr>
          <a:xfrm>
            <a:off x="3276600" y="2495550"/>
            <a:ext cx="66675" cy="80010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F7E943-6DDF-4209-8887-D0F6303E4199}"/>
              </a:ext>
            </a:extLst>
          </p:cNvPr>
          <p:cNvSpPr>
            <a:spLocks noGrp="1"/>
          </p:cNvSpPr>
          <p:nvPr/>
        </p:nvSpPr>
        <p:spPr>
          <a:xfrm>
            <a:off x="3448050" y="2619375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schema.py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84209D-4EF8-4D0C-AD76-2AD483471BFA}"/>
              </a:ext>
            </a:extLst>
          </p:cNvPr>
          <p:cNvSpPr>
            <a:spLocks noGrp="1"/>
          </p:cNvSpPr>
          <p:nvPr/>
        </p:nvSpPr>
        <p:spPr>
          <a:xfrm>
            <a:off x="3448050" y="286702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single source of truth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115C18-7B32-406A-A32B-2A7F75BF23A0}"/>
              </a:ext>
            </a:extLst>
          </p:cNvPr>
          <p:cNvSpPr>
            <a:spLocks noGrp="1"/>
          </p:cNvSpPr>
          <p:nvPr/>
        </p:nvSpPr>
        <p:spPr>
          <a:xfrm>
            <a:off x="4743450" y="2495550"/>
            <a:ext cx="1257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54B51C-F692-4AB5-87C2-523756E3D7B0}"/>
              </a:ext>
            </a:extLst>
          </p:cNvPr>
          <p:cNvSpPr>
            <a:spLocks noGrp="1"/>
          </p:cNvSpPr>
          <p:nvPr/>
        </p:nvSpPr>
        <p:spPr>
          <a:xfrm>
            <a:off x="4743450" y="2495550"/>
            <a:ext cx="66675" cy="80010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F16D05-1EE9-472E-95E6-D281AECF473D}"/>
              </a:ext>
            </a:extLst>
          </p:cNvPr>
          <p:cNvSpPr>
            <a:spLocks noGrp="1"/>
          </p:cNvSpPr>
          <p:nvPr/>
        </p:nvSpPr>
        <p:spPr>
          <a:xfrm>
            <a:off x="4914900" y="2619375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validate/*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614CAE-5249-4D22-9BB4-7040FEB4CD7D}"/>
              </a:ext>
            </a:extLst>
          </p:cNvPr>
          <p:cNvSpPr>
            <a:spLocks noGrp="1"/>
          </p:cNvSpPr>
          <p:nvPr/>
        </p:nvSpPr>
        <p:spPr>
          <a:xfrm>
            <a:off x="4914900" y="286702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rules + AnaCredit report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99EA15-DC14-456A-B738-22351C5D1120}"/>
              </a:ext>
            </a:extLst>
          </p:cNvPr>
          <p:cNvSpPr>
            <a:spLocks noGrp="1"/>
          </p:cNvSpPr>
          <p:nvPr/>
        </p:nvSpPr>
        <p:spPr>
          <a:xfrm>
            <a:off x="3276600" y="3543300"/>
            <a:ext cx="1257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4ADEED-EB5B-4C1D-A196-314FAA651035}"/>
              </a:ext>
            </a:extLst>
          </p:cNvPr>
          <p:cNvSpPr>
            <a:spLocks noGrp="1"/>
          </p:cNvSpPr>
          <p:nvPr/>
        </p:nvSpPr>
        <p:spPr>
          <a:xfrm>
            <a:off x="3276600" y="3543300"/>
            <a:ext cx="66675" cy="80010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2CCF98-C712-4BC6-9A63-55FA1DB45639}"/>
              </a:ext>
            </a:extLst>
          </p:cNvPr>
          <p:cNvSpPr>
            <a:spLocks noGrp="1"/>
          </p:cNvSpPr>
          <p:nvPr/>
        </p:nvSpPr>
        <p:spPr>
          <a:xfrm>
            <a:off x="3448050" y="3667125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analytics/*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2B1947-6B5A-4091-B50D-28E723EAA727}"/>
              </a:ext>
            </a:extLst>
          </p:cNvPr>
          <p:cNvSpPr>
            <a:spLocks noGrp="1"/>
          </p:cNvSpPr>
          <p:nvPr/>
        </p:nvSpPr>
        <p:spPr>
          <a:xfrm>
            <a:off x="3448050" y="391477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quick scan, portfolio, stress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95692E-33EB-48E4-9129-FAEC74C46049}"/>
              </a:ext>
            </a:extLst>
          </p:cNvPr>
          <p:cNvSpPr>
            <a:spLocks noGrp="1"/>
          </p:cNvSpPr>
          <p:nvPr/>
        </p:nvSpPr>
        <p:spPr>
          <a:xfrm>
            <a:off x="4743450" y="3543300"/>
            <a:ext cx="1257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404C1E-6140-4D10-9DE1-DFBF0327559E}"/>
              </a:ext>
            </a:extLst>
          </p:cNvPr>
          <p:cNvSpPr>
            <a:spLocks noGrp="1"/>
          </p:cNvSpPr>
          <p:nvPr/>
        </p:nvSpPr>
        <p:spPr>
          <a:xfrm>
            <a:off x="4743450" y="3543300"/>
            <a:ext cx="66675" cy="800100"/>
          </a:xfrm>
          <a:prstGeom prst="rect">
            <a:avLst/>
          </a:prstGeom>
          <a:solidFill>
            <a:srgbClr val="8C6A9E"/>
          </a:solidFill>
          <a:ln w="0">
            <a:solidFill>
              <a:srgbClr val="8C6A9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482AD4-3023-47BB-85A6-503137A5CB52}"/>
              </a:ext>
            </a:extLst>
          </p:cNvPr>
          <p:cNvSpPr>
            <a:spLocks noGrp="1"/>
          </p:cNvSpPr>
          <p:nvPr/>
        </p:nvSpPr>
        <p:spPr>
          <a:xfrm>
            <a:off x="4914900" y="3667125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ecl/*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08A797-B588-4094-9396-87ED0463B82D}"/>
              </a:ext>
            </a:extLst>
          </p:cNvPr>
          <p:cNvSpPr>
            <a:spLocks noGrp="1"/>
          </p:cNvSpPr>
          <p:nvPr/>
        </p:nvSpPr>
        <p:spPr>
          <a:xfrm>
            <a:off x="4914900" y="391477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IFRS 9, SICR, ECL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946CDE-29F7-4C5A-9756-C7850A7871A8}"/>
              </a:ext>
            </a:extLst>
          </p:cNvPr>
          <p:cNvSpPr>
            <a:spLocks noGrp="1"/>
          </p:cNvSpPr>
          <p:nvPr/>
        </p:nvSpPr>
        <p:spPr>
          <a:xfrm>
            <a:off x="7000875" y="2152650"/>
            <a:ext cx="21526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233048-BE31-4B64-8E51-BCB23448DE34}"/>
              </a:ext>
            </a:extLst>
          </p:cNvPr>
          <p:cNvSpPr>
            <a:spLocks noGrp="1"/>
          </p:cNvSpPr>
          <p:nvPr/>
        </p:nvSpPr>
        <p:spPr>
          <a:xfrm>
            <a:off x="7172325" y="22860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77A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77A4F"/>
                </a:solidFill>
                <a:latin typeface="Aptos"/>
                <a:ea typeface="Aptos"/>
                <a:cs typeface="Aptos"/>
              </a:rPr>
              <a:t>App layer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901EB6-D5AD-4B99-A289-D26CE9DE4860}"/>
              </a:ext>
            </a:extLst>
          </p:cNvPr>
          <p:cNvSpPr>
            <a:spLocks noGrp="1"/>
          </p:cNvSpPr>
          <p:nvPr/>
        </p:nvSpPr>
        <p:spPr>
          <a:xfrm>
            <a:off x="7296150" y="2743200"/>
            <a:ext cx="15811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BDF485-B64C-4F7E-8578-01696B5E3E77}"/>
              </a:ext>
            </a:extLst>
          </p:cNvPr>
          <p:cNvSpPr>
            <a:spLocks noGrp="1"/>
          </p:cNvSpPr>
          <p:nvPr/>
        </p:nvSpPr>
        <p:spPr>
          <a:xfrm>
            <a:off x="7296150" y="2743200"/>
            <a:ext cx="66675" cy="800100"/>
          </a:xfrm>
          <a:prstGeom prst="rect">
            <a:avLst/>
          </a:prstGeom>
          <a:solidFill>
            <a:srgbClr val="577A4F"/>
          </a:solidFill>
          <a:ln w="0">
            <a:solidFill>
              <a:srgbClr val="577A4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A183B1-BDE6-46AF-9558-87221727EDA0}"/>
              </a:ext>
            </a:extLst>
          </p:cNvPr>
          <p:cNvSpPr>
            <a:spLocks noGrp="1"/>
          </p:cNvSpPr>
          <p:nvPr/>
        </p:nvSpPr>
        <p:spPr>
          <a:xfrm>
            <a:off x="7467600" y="2867025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Streamlit pages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515AA5-EFA0-4C76-9BDE-ABA5E98B6FB9}"/>
              </a:ext>
            </a:extLst>
          </p:cNvPr>
          <p:cNvSpPr>
            <a:spLocks noGrp="1"/>
          </p:cNvSpPr>
          <p:nvPr/>
        </p:nvSpPr>
        <p:spPr>
          <a:xfrm>
            <a:off x="7467600" y="3114675"/>
            <a:ext cx="1276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six dashboard surfaces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35269A-47A6-4F68-9CDF-6C5329AF49B5}"/>
              </a:ext>
            </a:extLst>
          </p:cNvPr>
          <p:cNvSpPr>
            <a:spLocks noGrp="1"/>
          </p:cNvSpPr>
          <p:nvPr/>
        </p:nvSpPr>
        <p:spPr>
          <a:xfrm>
            <a:off x="7296150" y="3771900"/>
            <a:ext cx="15811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FC5BE2-5615-4211-BD0A-CF916FD493D3}"/>
              </a:ext>
            </a:extLst>
          </p:cNvPr>
          <p:cNvSpPr>
            <a:spLocks noGrp="1"/>
          </p:cNvSpPr>
          <p:nvPr/>
        </p:nvSpPr>
        <p:spPr>
          <a:xfrm>
            <a:off x="7296150" y="3771900"/>
            <a:ext cx="66675" cy="80010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6A5773-6E12-4D62-A37D-3C36466CE126}"/>
              </a:ext>
            </a:extLst>
          </p:cNvPr>
          <p:cNvSpPr>
            <a:spLocks noGrp="1"/>
          </p:cNvSpPr>
          <p:nvPr/>
        </p:nvSpPr>
        <p:spPr>
          <a:xfrm>
            <a:off x="7467600" y="3895725"/>
            <a:ext cx="1276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About / Limits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BE5227-0D4F-4616-9D10-D1CF9F573E58}"/>
              </a:ext>
            </a:extLst>
          </p:cNvPr>
          <p:cNvSpPr>
            <a:spLocks noGrp="1"/>
          </p:cNvSpPr>
          <p:nvPr/>
        </p:nvSpPr>
        <p:spPr>
          <a:xfrm>
            <a:off x="7467600" y="4143375"/>
            <a:ext cx="1276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EU AI Act transparency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2F2174E-CB2F-4345-B624-1DD8D7989AC4}"/>
              </a:ext>
            </a:extLst>
          </p:cNvPr>
          <p:cNvSpPr>
            <a:spLocks noGrp="1"/>
          </p:cNvSpPr>
          <p:nvPr/>
        </p:nvSpPr>
        <p:spPr>
          <a:xfrm>
            <a:off x="9667875" y="1943100"/>
            <a:ext cx="20002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CAED83-5CAA-4CFB-993E-793D7434B091}"/>
              </a:ext>
            </a:extLst>
          </p:cNvPr>
          <p:cNvSpPr>
            <a:spLocks noGrp="1"/>
          </p:cNvSpPr>
          <p:nvPr/>
        </p:nvSpPr>
        <p:spPr>
          <a:xfrm>
            <a:off x="9839325" y="20764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Audit state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5C23ED-ACCF-40B2-BA7A-622C24B24BE2}"/>
              </a:ext>
            </a:extLst>
          </p:cNvPr>
          <p:cNvSpPr>
            <a:spLocks noGrp="1"/>
          </p:cNvSpPr>
          <p:nvPr/>
        </p:nvSpPr>
        <p:spPr>
          <a:xfrm>
            <a:off x="9944100" y="2552700"/>
            <a:ext cx="14478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02AF192-392A-4E4C-8AF6-044895582B32}"/>
              </a:ext>
            </a:extLst>
          </p:cNvPr>
          <p:cNvSpPr>
            <a:spLocks noGrp="1"/>
          </p:cNvSpPr>
          <p:nvPr/>
        </p:nvSpPr>
        <p:spPr>
          <a:xfrm>
            <a:off x="9944100" y="2552700"/>
            <a:ext cx="66675" cy="80010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FF2F91F-77B3-4350-A98D-0C8AA62C2A04}"/>
              </a:ext>
            </a:extLst>
          </p:cNvPr>
          <p:cNvSpPr>
            <a:spLocks noGrp="1"/>
          </p:cNvSpPr>
          <p:nvPr/>
        </p:nvSpPr>
        <p:spPr>
          <a:xfrm>
            <a:off x="10115550" y="267652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DuckDB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3122A9-E7DF-4BC5-A64F-8DE821F80027}"/>
              </a:ext>
            </a:extLst>
          </p:cNvPr>
          <p:cNvSpPr>
            <a:spLocks noGrp="1"/>
          </p:cNvSpPr>
          <p:nvPr/>
        </p:nvSpPr>
        <p:spPr>
          <a:xfrm>
            <a:off x="10115550" y="2924175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pipeline + feature runs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1EDE08A-EA7F-4639-BCC5-D1A65B7AC051}"/>
              </a:ext>
            </a:extLst>
          </p:cNvPr>
          <p:cNvSpPr>
            <a:spLocks noGrp="1"/>
          </p:cNvSpPr>
          <p:nvPr/>
        </p:nvSpPr>
        <p:spPr>
          <a:xfrm>
            <a:off x="9944100" y="3600450"/>
            <a:ext cx="14478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72501B3-5F1C-4D20-91F7-D8F223D3A477}"/>
              </a:ext>
            </a:extLst>
          </p:cNvPr>
          <p:cNvSpPr>
            <a:spLocks noGrp="1"/>
          </p:cNvSpPr>
          <p:nvPr/>
        </p:nvSpPr>
        <p:spPr>
          <a:xfrm>
            <a:off x="9944100" y="3600450"/>
            <a:ext cx="66675" cy="800100"/>
          </a:xfrm>
          <a:prstGeom prst="rect">
            <a:avLst/>
          </a:prstGeom>
          <a:solidFill>
            <a:srgbClr val="8C6A9E"/>
          </a:solidFill>
          <a:ln w="0">
            <a:solidFill>
              <a:srgbClr val="8C6A9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65ED05B-4F1F-41C8-823D-4AC0382F8C2B}"/>
              </a:ext>
            </a:extLst>
          </p:cNvPr>
          <p:cNvSpPr>
            <a:spLocks noGrp="1"/>
          </p:cNvSpPr>
          <p:nvPr/>
        </p:nvSpPr>
        <p:spPr>
          <a:xfrm>
            <a:off x="10115550" y="372427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evals/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132FB3F-93B7-4EBC-BADD-779114CC59CD}"/>
              </a:ext>
            </a:extLst>
          </p:cNvPr>
          <p:cNvSpPr>
            <a:spLocks noGrp="1"/>
          </p:cNvSpPr>
          <p:nvPr/>
        </p:nvSpPr>
        <p:spPr>
          <a:xfrm>
            <a:off x="10115550" y="3971925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rubrics + result history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2E4502-4F04-45BD-B527-E485AF1757E6}"/>
              </a:ext>
            </a:extLst>
          </p:cNvPr>
          <p:cNvSpPr>
            <a:spLocks noGrp="1"/>
          </p:cNvSpPr>
          <p:nvPr/>
        </p:nvSpPr>
        <p:spPr>
          <a:xfrm>
            <a:off x="2400300" y="3552825"/>
            <a:ext cx="600075" cy="19050"/>
          </a:xfrm>
          <a:prstGeom prst="rect">
            <a:avLst/>
          </a:prstGeom>
          <a:solidFill>
            <a:srgbClr val="4B5563"/>
          </a:solidFill>
          <a:ln w="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207A188-17BB-43F6-9E90-B70D74792332}"/>
              </a:ext>
            </a:extLst>
          </p:cNvPr>
          <p:cNvSpPr>
            <a:spLocks noGrp="1"/>
          </p:cNvSpPr>
          <p:nvPr/>
        </p:nvSpPr>
        <p:spPr>
          <a:xfrm>
            <a:off x="6276975" y="3552825"/>
            <a:ext cx="723900" cy="19050"/>
          </a:xfrm>
          <a:prstGeom prst="rect">
            <a:avLst/>
          </a:prstGeom>
          <a:solidFill>
            <a:srgbClr val="4B5563"/>
          </a:solidFill>
          <a:ln w="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FB43FF-4FC6-4A6E-963E-EDF376FA4CEF}"/>
              </a:ext>
            </a:extLst>
          </p:cNvPr>
          <p:cNvSpPr>
            <a:spLocks noGrp="1"/>
          </p:cNvSpPr>
          <p:nvPr/>
        </p:nvSpPr>
        <p:spPr>
          <a:xfrm>
            <a:off x="9153525" y="3552825"/>
            <a:ext cx="514350" cy="19050"/>
          </a:xfrm>
          <a:prstGeom prst="rect">
            <a:avLst/>
          </a:prstGeom>
          <a:solidFill>
            <a:srgbClr val="4B5563"/>
          </a:solidFill>
          <a:ln w="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DA0DE31-7B13-48A7-A515-E550ED9525BC}"/>
              </a:ext>
            </a:extLst>
          </p:cNvPr>
          <p:cNvSpPr>
            <a:spLocks noGrp="1"/>
          </p:cNvSpPr>
          <p:nvPr/>
        </p:nvSpPr>
        <p:spPr>
          <a:xfrm>
            <a:off x="4638675" y="5114925"/>
            <a:ext cx="6029325" cy="1905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74551E1-5A75-4360-8C49-AADEF2F890FB}"/>
              </a:ext>
            </a:extLst>
          </p:cNvPr>
          <p:cNvSpPr>
            <a:spLocks noGrp="1"/>
          </p:cNvSpPr>
          <p:nvPr/>
        </p:nvSpPr>
        <p:spPr>
          <a:xfrm>
            <a:off x="5829300" y="52197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dashed in architecture docs: stage transitions, hashes, eval pass/fail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EA811C8-3CA1-4AE3-86AA-8B0063F4BF4D}"/>
              </a:ext>
            </a:extLst>
          </p:cNvPr>
          <p:cNvSpPr>
            <a:spLocks noGrp="1"/>
          </p:cNvSpPr>
          <p:nvPr/>
        </p:nvSpPr>
        <p:spPr>
          <a:xfrm>
            <a:off x="1752600" y="5638800"/>
            <a:ext cx="8534400" cy="400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848D54-AA72-42E1-A81A-763017F30300}"/>
              </a:ext>
            </a:extLst>
          </p:cNvPr>
          <p:cNvSpPr>
            <a:spLocks noGrp="1"/>
          </p:cNvSpPr>
          <p:nvPr/>
        </p:nvSpPr>
        <p:spPr>
          <a:xfrm>
            <a:off x="2019300" y="575310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Trust boundary: no raw stack traces, no raw DuckDB outside io/, no AI-authored regulated path without review.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2366471-4B35-453E-A1A4-AB2BA57314B9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docs/architecture.md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3434847-751E-4BB6-AE7A-FC16C30A9D86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1508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D5DB1E10-AE1C-4F1B-8569-7DDD297CFD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F6F3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16A93BB0-AFF6-49D8-A803-BC5D27ECFB49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28575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10B4A047-2C01-498B-A0A7-012F8DC39A18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FB36DB-E832-4AC9-B029-36EE6F8FD726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88582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analyst workflow advances only when each stage leaves evidence.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1B9E2A-6037-4058-BC4F-41B35BCC6E6F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Named failure modes halt or downgrade a run; publish is never the default outcome of a broken pipeline.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8CFB9-CF4D-47AA-BE17-E824C63A702F}"/>
              </a:ext>
            </a:extLst>
          </p:cNvPr>
          <p:cNvSpPr>
            <a:spLocks noGrp="1"/>
          </p:cNvSpPr>
          <p:nvPr/>
        </p:nvSpPr>
        <p:spPr>
          <a:xfrm>
            <a:off x="1009650" y="2838450"/>
            <a:ext cx="9886950" cy="38100"/>
          </a:xfrm>
          <a:prstGeom prst="rect">
            <a:avLst/>
          </a:prstGeom>
          <a:solidFill>
            <a:srgbClr val="D6D3C8"/>
          </a:solidFill>
          <a:ln w="0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8F480B-85F4-4556-B8AD-4583D4062F60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552450" cy="55245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E92EF2-73B0-456F-B76C-9D0363A984B5}"/>
              </a:ext>
            </a:extLst>
          </p:cNvPr>
          <p:cNvSpPr>
            <a:spLocks noGrp="1"/>
          </p:cNvSpPr>
          <p:nvPr/>
        </p:nvSpPr>
        <p:spPr>
          <a:xfrm>
            <a:off x="781050" y="260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BF56DA-342F-4AC7-A585-BD698067340D}"/>
              </a:ext>
            </a:extLst>
          </p:cNvPr>
          <p:cNvSpPr>
            <a:spLocks noGrp="1"/>
          </p:cNvSpPr>
          <p:nvPr/>
        </p:nvSpPr>
        <p:spPr>
          <a:xfrm>
            <a:off x="514350" y="32194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EB957A-0701-4FCB-92B7-C1614CD5C21F}"/>
              </a:ext>
            </a:extLst>
          </p:cNvPr>
          <p:cNvSpPr>
            <a:spLocks noGrp="1"/>
          </p:cNvSpPr>
          <p:nvPr/>
        </p:nvSpPr>
        <p:spPr>
          <a:xfrm>
            <a:off x="400050" y="3448050"/>
            <a:ext cx="1314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analyst provides tape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BABC7C-8FB2-411D-8A22-8E8BBA5DDFC1}"/>
              </a:ext>
            </a:extLst>
          </p:cNvPr>
          <p:cNvSpPr>
            <a:spLocks noGrp="1"/>
          </p:cNvSpPr>
          <p:nvPr/>
        </p:nvSpPr>
        <p:spPr>
          <a:xfrm>
            <a:off x="2190750" y="2495550"/>
            <a:ext cx="552450" cy="55245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D4F064-009B-489D-8BFF-56E1BA01AA6D}"/>
              </a:ext>
            </a:extLst>
          </p:cNvPr>
          <p:cNvSpPr>
            <a:spLocks noGrp="1"/>
          </p:cNvSpPr>
          <p:nvPr/>
        </p:nvSpPr>
        <p:spPr>
          <a:xfrm>
            <a:off x="2190750" y="260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FE256-16A8-4E47-9A95-D85FC1B4991C}"/>
              </a:ext>
            </a:extLst>
          </p:cNvPr>
          <p:cNvSpPr>
            <a:spLocks noGrp="1"/>
          </p:cNvSpPr>
          <p:nvPr/>
        </p:nvSpPr>
        <p:spPr>
          <a:xfrm>
            <a:off x="1924050" y="32194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0BB66-C1B0-43A5-A5A1-56231EE56830}"/>
              </a:ext>
            </a:extLst>
          </p:cNvPr>
          <p:cNvSpPr>
            <a:spLocks noGrp="1"/>
          </p:cNvSpPr>
          <p:nvPr/>
        </p:nvSpPr>
        <p:spPr>
          <a:xfrm>
            <a:off x="1809750" y="3448050"/>
            <a:ext cx="1314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schema validates boundary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DD9525-D716-4475-AE39-576FB0976362}"/>
              </a:ext>
            </a:extLst>
          </p:cNvPr>
          <p:cNvSpPr>
            <a:spLocks noGrp="1"/>
          </p:cNvSpPr>
          <p:nvPr/>
        </p:nvSpPr>
        <p:spPr>
          <a:xfrm>
            <a:off x="3600450" y="2495550"/>
            <a:ext cx="552450" cy="55245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548F6B-C455-471F-8981-EDE085A71EC5}"/>
              </a:ext>
            </a:extLst>
          </p:cNvPr>
          <p:cNvSpPr>
            <a:spLocks noGrp="1"/>
          </p:cNvSpPr>
          <p:nvPr/>
        </p:nvSpPr>
        <p:spPr>
          <a:xfrm>
            <a:off x="3600450" y="260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CF0E99-5EC9-4C0C-8D17-CF52ED4E3A45}"/>
              </a:ext>
            </a:extLst>
          </p:cNvPr>
          <p:cNvSpPr>
            <a:spLocks noGrp="1"/>
          </p:cNvSpPr>
          <p:nvPr/>
        </p:nvSpPr>
        <p:spPr>
          <a:xfrm>
            <a:off x="3333750" y="32194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1CE1C0-D39B-4E70-B37D-6DE0BAA3BB31}"/>
              </a:ext>
            </a:extLst>
          </p:cNvPr>
          <p:cNvSpPr>
            <a:spLocks noGrp="1"/>
          </p:cNvSpPr>
          <p:nvPr/>
        </p:nvSpPr>
        <p:spPr>
          <a:xfrm>
            <a:off x="3219450" y="3448050"/>
            <a:ext cx="1314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cross-field rules run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B04718-7922-43DA-A164-3A32938B078D}"/>
              </a:ext>
            </a:extLst>
          </p:cNvPr>
          <p:cNvSpPr>
            <a:spLocks noGrp="1"/>
          </p:cNvSpPr>
          <p:nvPr/>
        </p:nvSpPr>
        <p:spPr>
          <a:xfrm>
            <a:off x="5010150" y="2495550"/>
            <a:ext cx="552450" cy="55245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038983-D314-47EC-8764-45EB8A75EB1C}"/>
              </a:ext>
            </a:extLst>
          </p:cNvPr>
          <p:cNvSpPr>
            <a:spLocks noGrp="1"/>
          </p:cNvSpPr>
          <p:nvPr/>
        </p:nvSpPr>
        <p:spPr>
          <a:xfrm>
            <a:off x="5010150" y="260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97331C-9329-4DD5-AB19-438D2CAAA457}"/>
              </a:ext>
            </a:extLst>
          </p:cNvPr>
          <p:cNvSpPr>
            <a:spLocks noGrp="1"/>
          </p:cNvSpPr>
          <p:nvPr/>
        </p:nvSpPr>
        <p:spPr>
          <a:xfrm>
            <a:off x="4743450" y="32194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888CC4-91A2-4D4D-8EA7-2EEE491DBEEF}"/>
              </a:ext>
            </a:extLst>
          </p:cNvPr>
          <p:cNvSpPr>
            <a:spLocks noGrp="1"/>
          </p:cNvSpPr>
          <p:nvPr/>
        </p:nvSpPr>
        <p:spPr>
          <a:xfrm>
            <a:off x="4629150" y="3448050"/>
            <a:ext cx="1314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KPIs and cohorts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275643-27BF-42C9-B271-4A090E54FA13}"/>
              </a:ext>
            </a:extLst>
          </p:cNvPr>
          <p:cNvSpPr>
            <a:spLocks noGrp="1"/>
          </p:cNvSpPr>
          <p:nvPr/>
        </p:nvSpPr>
        <p:spPr>
          <a:xfrm>
            <a:off x="6419850" y="2495550"/>
            <a:ext cx="552450" cy="55245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7C89D4-E068-4FFB-9A0D-EADFFFE00143}"/>
              </a:ext>
            </a:extLst>
          </p:cNvPr>
          <p:cNvSpPr>
            <a:spLocks noGrp="1"/>
          </p:cNvSpPr>
          <p:nvPr/>
        </p:nvSpPr>
        <p:spPr>
          <a:xfrm>
            <a:off x="6419850" y="260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57BED7-393B-4785-99A9-CE8170D07D7D}"/>
              </a:ext>
            </a:extLst>
          </p:cNvPr>
          <p:cNvSpPr>
            <a:spLocks noGrp="1"/>
          </p:cNvSpPr>
          <p:nvPr/>
        </p:nvSpPr>
        <p:spPr>
          <a:xfrm>
            <a:off x="6153150" y="32194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CB3E47-0268-44AF-8CE6-0CFB58F6BD52}"/>
              </a:ext>
            </a:extLst>
          </p:cNvPr>
          <p:cNvSpPr>
            <a:spLocks noGrp="1"/>
          </p:cNvSpPr>
          <p:nvPr/>
        </p:nvSpPr>
        <p:spPr>
          <a:xfrm>
            <a:off x="6038850" y="3448050"/>
            <a:ext cx="1314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NL scenarios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62CDB0-118F-40A4-9FCD-366CDE52727F}"/>
              </a:ext>
            </a:extLst>
          </p:cNvPr>
          <p:cNvSpPr>
            <a:spLocks noGrp="1"/>
          </p:cNvSpPr>
          <p:nvPr/>
        </p:nvSpPr>
        <p:spPr>
          <a:xfrm>
            <a:off x="7829550" y="2495550"/>
            <a:ext cx="552450" cy="55245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0083EB-7683-421E-9FAA-B000B732A7AC}"/>
              </a:ext>
            </a:extLst>
          </p:cNvPr>
          <p:cNvSpPr>
            <a:spLocks noGrp="1"/>
          </p:cNvSpPr>
          <p:nvPr/>
        </p:nvSpPr>
        <p:spPr>
          <a:xfrm>
            <a:off x="7829550" y="260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DEFD56-EE77-403D-9180-C2D6CC2AE1F2}"/>
              </a:ext>
            </a:extLst>
          </p:cNvPr>
          <p:cNvSpPr>
            <a:spLocks noGrp="1"/>
          </p:cNvSpPr>
          <p:nvPr/>
        </p:nvSpPr>
        <p:spPr>
          <a:xfrm>
            <a:off x="7562850" y="32194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81E322-68E2-4322-B921-F4F1E6B205D4}"/>
              </a:ext>
            </a:extLst>
          </p:cNvPr>
          <p:cNvSpPr>
            <a:spLocks noGrp="1"/>
          </p:cNvSpPr>
          <p:nvPr/>
        </p:nvSpPr>
        <p:spPr>
          <a:xfrm>
            <a:off x="7448550" y="3448050"/>
            <a:ext cx="1314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findings and warnings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6E9E7D-61D4-4CB4-B19E-D0E4709EE15A}"/>
              </a:ext>
            </a:extLst>
          </p:cNvPr>
          <p:cNvSpPr>
            <a:spLocks noGrp="1"/>
          </p:cNvSpPr>
          <p:nvPr/>
        </p:nvSpPr>
        <p:spPr>
          <a:xfrm>
            <a:off x="9239250" y="2495550"/>
            <a:ext cx="552450" cy="55245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8A91D5-8234-4BC1-82E8-C06E6F847080}"/>
              </a:ext>
            </a:extLst>
          </p:cNvPr>
          <p:cNvSpPr>
            <a:spLocks noGrp="1"/>
          </p:cNvSpPr>
          <p:nvPr/>
        </p:nvSpPr>
        <p:spPr>
          <a:xfrm>
            <a:off x="9239250" y="260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6B2BE3-DD58-4BD2-BABD-ACFADEBE572E}"/>
              </a:ext>
            </a:extLst>
          </p:cNvPr>
          <p:cNvSpPr>
            <a:spLocks noGrp="1"/>
          </p:cNvSpPr>
          <p:nvPr/>
        </p:nvSpPr>
        <p:spPr>
          <a:xfrm>
            <a:off x="8972550" y="32194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 off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E5706A-1E00-4127-918C-CEE07F322889}"/>
              </a:ext>
            </a:extLst>
          </p:cNvPr>
          <p:cNvSpPr>
            <a:spLocks noGrp="1"/>
          </p:cNvSpPr>
          <p:nvPr/>
        </p:nvSpPr>
        <p:spPr>
          <a:xfrm>
            <a:off x="8858250" y="3448050"/>
            <a:ext cx="1314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manual 1st/2nd line gate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57FDBE-BAAB-4ED1-9749-10F1B6B55BF7}"/>
              </a:ext>
            </a:extLst>
          </p:cNvPr>
          <p:cNvSpPr>
            <a:spLocks noGrp="1"/>
          </p:cNvSpPr>
          <p:nvPr/>
        </p:nvSpPr>
        <p:spPr>
          <a:xfrm>
            <a:off x="10648950" y="2495550"/>
            <a:ext cx="552450" cy="552450"/>
          </a:xfrm>
          <a:prstGeom prst="rect">
            <a:avLst/>
          </a:prstGeom>
          <a:solidFill>
            <a:srgbClr val="577A4F"/>
          </a:solidFill>
          <a:ln w="0">
            <a:solidFill>
              <a:srgbClr val="577A4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D9F872-0885-4E48-9FA6-9D51FBA9D668}"/>
              </a:ext>
            </a:extLst>
          </p:cNvPr>
          <p:cNvSpPr>
            <a:spLocks noGrp="1"/>
          </p:cNvSpPr>
          <p:nvPr/>
        </p:nvSpPr>
        <p:spPr>
          <a:xfrm>
            <a:off x="10648950" y="26098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871242-2D0C-49A9-9CF2-8A9A6D6F76CF}"/>
              </a:ext>
            </a:extLst>
          </p:cNvPr>
          <p:cNvSpPr>
            <a:spLocks noGrp="1"/>
          </p:cNvSpPr>
          <p:nvPr/>
        </p:nvSpPr>
        <p:spPr>
          <a:xfrm>
            <a:off x="10382250" y="3219450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9E5E24-8B98-455A-BD0A-672FBE738B45}"/>
              </a:ext>
            </a:extLst>
          </p:cNvPr>
          <p:cNvSpPr>
            <a:spLocks noGrp="1"/>
          </p:cNvSpPr>
          <p:nvPr/>
        </p:nvSpPr>
        <p:spPr>
          <a:xfrm>
            <a:off x="10267950" y="3448050"/>
            <a:ext cx="1314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hash and audit record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1263EC-D410-4EEC-9202-D483A155999F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22098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9E3B3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019A8E-D421-4166-B82D-9962ECA7389D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9E3B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3B31"/>
                </a:solidFill>
                <a:latin typeface="Aptos"/>
                <a:ea typeface="Aptos"/>
                <a:cs typeface="Aptos"/>
              </a:rPr>
              <a:t>Schema drift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E7C42C6-0DD8-432C-B14E-F0756E30E29C}"/>
              </a:ext>
            </a:extLst>
          </p:cNvPr>
          <p:cNvSpPr>
            <a:spLocks noGrp="1"/>
          </p:cNvSpPr>
          <p:nvPr/>
        </p:nvSpPr>
        <p:spPr>
          <a:xfrm>
            <a:off x="1047750" y="4686300"/>
            <a:ext cx="1866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FAILED, first 10 violations captured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19C02F-0879-4A19-9DB8-21F978B243A5}"/>
              </a:ext>
            </a:extLst>
          </p:cNvPr>
          <p:cNvSpPr>
            <a:spLocks noGrp="1"/>
          </p:cNvSpPr>
          <p:nvPr/>
        </p:nvSpPr>
        <p:spPr>
          <a:xfrm>
            <a:off x="3562350" y="4305300"/>
            <a:ext cx="22098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F6FE6A-22E5-417D-992C-3A7C276C31DA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&gt; 1% critical rule failures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F7F1CA1-2172-49D5-9199-6BE071BDB61E}"/>
              </a:ext>
            </a:extLst>
          </p:cNvPr>
          <p:cNvSpPr>
            <a:spLocks noGrp="1"/>
          </p:cNvSpPr>
          <p:nvPr/>
        </p:nvSpPr>
        <p:spPr>
          <a:xfrm>
            <a:off x="3714750" y="4686300"/>
            <a:ext cx="1866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BLOCKED, override comment required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2759EB9-7E31-4372-8C45-6E8EE759700C}"/>
              </a:ext>
            </a:extLst>
          </p:cNvPr>
          <p:cNvSpPr>
            <a:spLocks noGrp="1"/>
          </p:cNvSpPr>
          <p:nvPr/>
        </p:nvSpPr>
        <p:spPr>
          <a:xfrm>
            <a:off x="6229350" y="4305300"/>
            <a:ext cx="22098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9E3B3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84FD68-C50D-469F-9C9F-3D29333632A9}"/>
              </a:ext>
            </a:extLst>
          </p:cNvPr>
          <p:cNvSpPr>
            <a:spLocks noGrp="1"/>
          </p:cNvSpPr>
          <p:nvPr/>
        </p:nvSpPr>
        <p:spPr>
          <a:xfrm>
            <a:off x="6381750" y="443865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9E3B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3B31"/>
                </a:solidFill>
                <a:latin typeface="Aptos"/>
                <a:ea typeface="Aptos"/>
                <a:cs typeface="Aptos"/>
              </a:rPr>
              <a:t>NaN / Inf KPI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7AF8A5A-95D4-4598-BB14-0070FE0C13BC}"/>
              </a:ext>
            </a:extLst>
          </p:cNvPr>
          <p:cNvSpPr>
            <a:spLocks noGrp="1"/>
          </p:cNvSpPr>
          <p:nvPr/>
        </p:nvSpPr>
        <p:spPr>
          <a:xfrm>
            <a:off x="6381750" y="4686300"/>
            <a:ext cx="1866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FAILED, no silent zero fallback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13E72D-CC82-42FB-8F4C-DFE4AFEFEC27}"/>
              </a:ext>
            </a:extLst>
          </p:cNvPr>
          <p:cNvSpPr>
            <a:spLocks noGrp="1"/>
          </p:cNvSpPr>
          <p:nvPr/>
        </p:nvSpPr>
        <p:spPr>
          <a:xfrm>
            <a:off x="8896350" y="4305300"/>
            <a:ext cx="22098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26A69D-D378-45BE-9E25-C1941A2ABA22}"/>
              </a:ext>
            </a:extLst>
          </p:cNvPr>
          <p:cNvSpPr>
            <a:spLocks noGrp="1"/>
          </p:cNvSpPr>
          <p:nvPr/>
        </p:nvSpPr>
        <p:spPr>
          <a:xfrm>
            <a:off x="9048750" y="4438650"/>
            <a:ext cx="190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2nd line absent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F24A01-6B61-4511-A2B9-1615690D99BC}"/>
              </a:ext>
            </a:extLst>
          </p:cNvPr>
          <p:cNvSpPr>
            <a:spLocks noGrp="1"/>
          </p:cNvSpPr>
          <p:nvPr/>
        </p:nvSpPr>
        <p:spPr>
          <a:xfrm>
            <a:off x="9048750" y="4686300"/>
            <a:ext cx="1866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BLOCKED and escalated, never auto-approved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01907B0-B7AD-447E-B381-4F967D36FA0C}"/>
              </a:ext>
            </a:extLst>
          </p:cNvPr>
          <p:cNvSpPr>
            <a:spLocks noGrp="1"/>
          </p:cNvSpPr>
          <p:nvPr/>
        </p:nvSpPr>
        <p:spPr>
          <a:xfrm>
            <a:off x="2190750" y="5562600"/>
            <a:ext cx="7810500" cy="400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58D81A4-7643-4DE2-8403-B96A18BA6076}"/>
              </a:ext>
            </a:extLst>
          </p:cNvPr>
          <p:cNvSpPr>
            <a:spLocks noGrp="1"/>
          </p:cNvSpPr>
          <p:nvPr/>
        </p:nvSpPr>
        <p:spPr>
          <a:xfrm>
            <a:off x="2457450" y="5695950"/>
            <a:ext cx="7277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Scope includes the operating workflow and its failure contract, not only the happy-path dashboard.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082639C-580C-4D0B-99AD-0C6CF96B2E8E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docs/architecture.md, docs/governance/fail-gracefully.md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4BE5BF-E8BB-4248-9A15-01626F77FB94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042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300D5A0B-2B67-420C-83F9-3ABC31A72E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F6F3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kicker-05-marker">
            <a:extLst>
              <a:ext uri="{FF2B5EF4-FFF2-40B4-BE49-F238E27FC236}">
                <a16:creationId xmlns:a16="http://schemas.microsoft.com/office/drawing/2014/main" id="{171A3FA3-3F56-4359-8E89-9C78AEB291AF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28575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kicker-05-label">
            <a:extLst>
              <a:ext uri="{FF2B5EF4-FFF2-40B4-BE49-F238E27FC236}">
                <a16:creationId xmlns:a16="http://schemas.microsoft.com/office/drawing/2014/main" id="{1FC17AFA-AB10-40E4-A307-D225A9215BFA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B6340C-5546-403D-9F8B-795955BC950C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88582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Validation checks turn Dutch mortgage rules into auditable findings.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00E7C-3E22-4B18-805F-88C6D3A183F0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validation report is scoped as a control surface: severity, regulation, owner, and reportability travel with each finding.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430331-1A63-4C78-855B-EEE6FEBCC991}"/>
              </a:ext>
            </a:extLst>
          </p:cNvPr>
          <p:cNvSpPr>
            <a:spLocks noGrp="1"/>
          </p:cNvSpPr>
          <p:nvPr/>
        </p:nvSpPr>
        <p:spPr>
          <a:xfrm>
            <a:off x="857250" y="20574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Rule family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1CF456-84BA-4ED6-8436-138CFA4B18BD}"/>
              </a:ext>
            </a:extLst>
          </p:cNvPr>
          <p:cNvSpPr>
            <a:spLocks noGrp="1"/>
          </p:cNvSpPr>
          <p:nvPr/>
        </p:nvSpPr>
        <p:spPr>
          <a:xfrm>
            <a:off x="3048000" y="20574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What is checked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09894-53BC-4BF8-ACB8-D4C6A8B98CD3}"/>
              </a:ext>
            </a:extLst>
          </p:cNvPr>
          <p:cNvSpPr>
            <a:spLocks noGrp="1"/>
          </p:cNvSpPr>
          <p:nvPr/>
        </p:nvSpPr>
        <p:spPr>
          <a:xfrm>
            <a:off x="7524750" y="20574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Anchor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6A10E7-9756-4C43-834D-FA12BDE994A9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990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CC6E3E-3083-4DF9-85F1-56D54D7A0CCF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66675" cy="47625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77C553-597F-4004-89E2-0F67F32893BF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NHG cap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3C2B99-9A48-4BF2-8F87-AC8FE57AF11F}"/>
              </a:ext>
            </a:extLst>
          </p:cNvPr>
          <p:cNvSpPr>
            <a:spLocks noGrp="1"/>
          </p:cNvSpPr>
          <p:nvPr/>
        </p:nvSpPr>
        <p:spPr>
          <a:xfrm>
            <a:off x="3048000" y="247650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nhg_flag + principal &lt;= origination-year cap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1AAB7B-6673-40CE-B7BA-191578CA0D99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NHG / WEW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BF6B51-6667-4B09-A33D-528F21DCC298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990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3148DD-5666-4898-B3E6-6960546D895A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66675" cy="47625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B79C90-A9D5-4298-A0DF-39CE8C1F9E7A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HRA eligibility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004F51-2D45-45BC-B7FA-DDB06D7EC2F6}"/>
              </a:ext>
            </a:extLst>
          </p:cNvPr>
          <p:cNvSpPr>
            <a:spLocks noGrp="1"/>
          </p:cNvSpPr>
          <p:nvPr/>
        </p:nvSpPr>
        <p:spPr>
          <a:xfrm>
            <a:off x="3048000" y="31051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post-2013 annuity or linear repayment only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B6CB1A-EF0D-4F84-8DD2-84D43E358873}"/>
              </a:ext>
            </a:extLst>
          </p:cNvPr>
          <p:cNvSpPr>
            <a:spLocks noGrp="1"/>
          </p:cNvSpPr>
          <p:nvPr/>
        </p:nvSpPr>
        <p:spPr>
          <a:xfrm>
            <a:off x="7524750" y="3105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Dutch tax rules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6C74BE-9912-48CD-B5A1-04602AB7866E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990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D910C5-0867-441D-AFA8-102E1CDE9ECE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66675" cy="47625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921ED3-8ABC-4764-B413-719A1CAA2A4C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Affordability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9D9315-76DC-49C3-B7D2-7160303D0FD5}"/>
              </a:ext>
            </a:extLst>
          </p:cNvPr>
          <p:cNvSpPr>
            <a:spLocks noGrp="1"/>
          </p:cNvSpPr>
          <p:nvPr/>
        </p:nvSpPr>
        <p:spPr>
          <a:xfrm>
            <a:off x="3048000" y="373380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original LTI within annual Nibud cap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78AD50-9B87-42D7-8D4D-4392DB9177A7}"/>
              </a:ext>
            </a:extLst>
          </p:cNvPr>
          <p:cNvSpPr>
            <a:spLocks noGrp="1"/>
          </p:cNvSpPr>
          <p:nvPr/>
        </p:nvSpPr>
        <p:spPr>
          <a:xfrm>
            <a:off x="7524750" y="37338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Tijdelijke regeling + Nibud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EBA3AA-2DF2-4A09-8069-67250D51C41C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990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406E6C-38C8-433C-B62D-D75C8FD19157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66675" cy="476250"/>
          </a:xfrm>
          <a:prstGeom prst="rect">
            <a:avLst/>
          </a:prstGeom>
          <a:solidFill>
            <a:srgbClr val="8C6A9E"/>
          </a:solidFill>
          <a:ln w="0">
            <a:solidFill>
              <a:srgbClr val="8C6A9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0EFBA7-B250-4AFD-B616-D91AFDCC6A84}"/>
              </a:ext>
            </a:extLst>
          </p:cNvPr>
          <p:cNvSpPr>
            <a:spLocks noGrp="1"/>
          </p:cNvSpPr>
          <p:nvPr/>
        </p:nvSpPr>
        <p:spPr>
          <a:xfrm>
            <a:off x="952500" y="43624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Collateral freshness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CA92E-9740-4837-8C2C-14292E762DA8}"/>
              </a:ext>
            </a:extLst>
          </p:cNvPr>
          <p:cNvSpPr>
            <a:spLocks noGrp="1"/>
          </p:cNvSpPr>
          <p:nvPr/>
        </p:nvSpPr>
        <p:spPr>
          <a:xfrm>
            <a:off x="3048000" y="43624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taxatie age and value consistency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C0F773-8B95-45D1-838B-989F5F936508}"/>
              </a:ext>
            </a:extLst>
          </p:cNvPr>
          <p:cNvSpPr>
            <a:spLocks noGrp="1"/>
          </p:cNvSpPr>
          <p:nvPr/>
        </p:nvSpPr>
        <p:spPr>
          <a:xfrm>
            <a:off x="7524750" y="43624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8C6A9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C6A9E"/>
                </a:solidFill>
                <a:latin typeface="Aptos"/>
                <a:ea typeface="Aptos"/>
                <a:cs typeface="Aptos"/>
              </a:rPr>
              <a:t>BCBS 239 timeliness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3ACBBD-EBCC-4B19-BCAE-6F40E43A7F9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990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C7371D-AA84-4DA5-A9C1-B09FAA8C0F48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6675" cy="476250"/>
          </a:xfrm>
          <a:prstGeom prst="rect">
            <a:avLst/>
          </a:prstGeom>
          <a:solidFill>
            <a:srgbClr val="577A4F"/>
          </a:solidFill>
          <a:ln w="0">
            <a:solidFill>
              <a:srgbClr val="577A4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229173-5D93-4AE1-87FD-236E627D93E0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AnaCredit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ADC35B-388D-41FA-B657-748216ADEF6E}"/>
              </a:ext>
            </a:extLst>
          </p:cNvPr>
          <p:cNvSpPr>
            <a:spLocks noGrp="1"/>
          </p:cNvSpPr>
          <p:nvPr/>
        </p:nvSpPr>
        <p:spPr>
          <a:xfrm>
            <a:off x="3048000" y="499110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required ECB attributes populated and mapped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0F4B5F-4C1C-4F34-BB7E-00F9D4A0D40B}"/>
              </a:ext>
            </a:extLst>
          </p:cNvPr>
          <p:cNvSpPr>
            <a:spLocks noGrp="1"/>
          </p:cNvSpPr>
          <p:nvPr/>
        </p:nvSpPr>
        <p:spPr>
          <a:xfrm>
            <a:off x="7524750" y="49911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77A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77A4F"/>
                </a:solidFill>
                <a:latin typeface="Aptos"/>
                <a:ea typeface="Aptos"/>
                <a:cs typeface="Aptos"/>
              </a:rPr>
              <a:t>ECB Reg 2016/867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0ABD00-9039-4B0F-AF47-6D0A30180D9F}"/>
              </a:ext>
            </a:extLst>
          </p:cNvPr>
          <p:cNvSpPr>
            <a:spLocks noGrp="1"/>
          </p:cNvSpPr>
          <p:nvPr/>
        </p:nvSpPr>
        <p:spPr>
          <a:xfrm>
            <a:off x="1238250" y="5657850"/>
            <a:ext cx="2895600" cy="400050"/>
          </a:xfrm>
          <a:prstGeom prst="rect">
            <a:avLst/>
          </a:prstGeom>
          <a:solidFill>
            <a:srgbClr val="F1E2B8"/>
          </a:solidFill>
          <a:ln w="9525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6CE7BF-3F11-455D-A328-A90C9CBF8D8E}"/>
              </a:ext>
            </a:extLst>
          </p:cNvPr>
          <p:cNvSpPr>
            <a:spLocks noGrp="1"/>
          </p:cNvSpPr>
          <p:nvPr/>
        </p:nvSpPr>
        <p:spPr>
          <a:xfrm>
            <a:off x="1504950" y="578167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562CB3-041D-4C0E-B837-A7185432B46A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blocks publish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7661B65-474E-45E6-9EFA-081EFFCE9D96}"/>
              </a:ext>
            </a:extLst>
          </p:cNvPr>
          <p:cNvSpPr>
            <a:spLocks noGrp="1"/>
          </p:cNvSpPr>
          <p:nvPr/>
        </p:nvSpPr>
        <p:spPr>
          <a:xfrm>
            <a:off x="4648200" y="5657850"/>
            <a:ext cx="2895600" cy="400050"/>
          </a:xfrm>
          <a:prstGeom prst="rect">
            <a:avLst/>
          </a:prstGeom>
          <a:solidFill>
            <a:srgbClr val="E8C3B2"/>
          </a:solidFill>
          <a:ln w="9525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445672-AA89-4DEE-A82B-200E1C86DDCD}"/>
              </a:ext>
            </a:extLst>
          </p:cNvPr>
          <p:cNvSpPr>
            <a:spLocks noGrp="1"/>
          </p:cNvSpPr>
          <p:nvPr/>
        </p:nvSpPr>
        <p:spPr>
          <a:xfrm>
            <a:off x="4914900" y="578167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WARNING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BE8BAC-6E0D-496C-B7A2-325AFC433CFE}"/>
              </a:ext>
            </a:extLst>
          </p:cNvPr>
          <p:cNvSpPr>
            <a:spLocks noGrp="1"/>
          </p:cNvSpPr>
          <p:nvPr/>
        </p:nvSpPr>
        <p:spPr>
          <a:xfrm>
            <a:off x="5867400" y="5781675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advances with flag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C697A2-B1B4-4344-A10B-9F64149F40EF}"/>
              </a:ext>
            </a:extLst>
          </p:cNvPr>
          <p:cNvSpPr>
            <a:spLocks noGrp="1"/>
          </p:cNvSpPr>
          <p:nvPr/>
        </p:nvSpPr>
        <p:spPr>
          <a:xfrm>
            <a:off x="8058150" y="5657850"/>
            <a:ext cx="2895600" cy="400050"/>
          </a:xfrm>
          <a:prstGeom prst="rect">
            <a:avLst/>
          </a:prstGeom>
          <a:solidFill>
            <a:srgbClr val="B7D7D5"/>
          </a:solidFill>
          <a:ln w="9525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341F68-A037-4665-A556-1A6D1DCFA593}"/>
              </a:ext>
            </a:extLst>
          </p:cNvPr>
          <p:cNvSpPr>
            <a:spLocks noGrp="1"/>
          </p:cNvSpPr>
          <p:nvPr/>
        </p:nvSpPr>
        <p:spPr>
          <a:xfrm>
            <a:off x="8324850" y="5781675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33B6A1-5B56-4156-91DC-1225EEF8F203}"/>
              </a:ext>
            </a:extLst>
          </p:cNvPr>
          <p:cNvSpPr>
            <a:spLocks noGrp="1"/>
          </p:cNvSpPr>
          <p:nvPr/>
        </p:nvSpPr>
        <p:spPr>
          <a:xfrm>
            <a:off x="9277350" y="5781675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FBDADD-85DC-4D26-86B9-3D3AE41D1926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docs/domain-primer.md, docs/regulation-map.md, evals/rubrics/validation_report.md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972F6CD-94B6-4FA8-921B-7DFECC5CFAB5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6864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AB1A28B-4A4B-4E21-ABC8-EFF9603CF1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F6F3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kicker-06-marker">
            <a:extLst>
              <a:ext uri="{FF2B5EF4-FFF2-40B4-BE49-F238E27FC236}">
                <a16:creationId xmlns:a16="http://schemas.microsoft.com/office/drawing/2014/main" id="{7FF798C9-EE89-4093-BC9C-E81F57E4E639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28575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3F02894F-735C-4650-812C-B46A5B0737FB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RISK CONTROLS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379FE-74F1-492F-B8D9-4118C7F43F29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88582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Stress, SICR, and anomaly checks target both portfolio risk and model drift.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141C15-5BDE-428E-A963-B55E3FC9FA74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platform scope includes sanity bands and fixtures because wrong signs, filters, and cohorts are high-risk failure modes.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57BAF5-7E12-4008-9E95-8001E51B9797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32575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A5B8D4-3BF5-4FEF-B550-A2DE92AFBCDD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3257550" cy="9525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0AD04-D189-4E1D-9598-2FAB5FFC22B3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Stress scenarios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3030DD-F544-40C4-ABA7-87F816AFD09A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NL adverse movement must reconcile.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ED17D9-CC08-4B87-9562-212E8AE6AC95}"/>
              </a:ext>
            </a:extLst>
          </p:cNvPr>
          <p:cNvSpPr>
            <a:spLocks noGrp="1"/>
          </p:cNvSpPr>
          <p:nvPr/>
        </p:nvSpPr>
        <p:spPr>
          <a:xfrm>
            <a:off x="895350" y="3495675"/>
            <a:ext cx="76200" cy="7620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7B4C6-68ED-4873-B5C9-641302EE2BA5}"/>
              </a:ext>
            </a:extLst>
          </p:cNvPr>
          <p:cNvSpPr>
            <a:spLocks noGrp="1"/>
          </p:cNvSpPr>
          <p:nvPr/>
        </p:nvSpPr>
        <p:spPr>
          <a:xfrm>
            <a:off x="1066800" y="344805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DNB house-price shock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7350DC-F1B2-41FD-A1C6-9574DCA35B96}"/>
              </a:ext>
            </a:extLst>
          </p:cNvPr>
          <p:cNvSpPr>
            <a:spLocks noGrp="1"/>
          </p:cNvSpPr>
          <p:nvPr/>
        </p:nvSpPr>
        <p:spPr>
          <a:xfrm>
            <a:off x="895350" y="3895725"/>
            <a:ext cx="76200" cy="7620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3BFAC-2E2D-453A-992C-383332A8C4CC}"/>
              </a:ext>
            </a:extLst>
          </p:cNvPr>
          <p:cNvSpPr>
            <a:spLocks noGrp="1"/>
          </p:cNvSpPr>
          <p:nvPr/>
        </p:nvSpPr>
        <p:spPr>
          <a:xfrm>
            <a:off x="1066800" y="38481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HRA phase-out pressure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ACF7AC-CE0D-46FE-B40C-85F1549C1AA1}"/>
              </a:ext>
            </a:extLst>
          </p:cNvPr>
          <p:cNvSpPr>
            <a:spLocks noGrp="1"/>
          </p:cNvSpPr>
          <p:nvPr/>
        </p:nvSpPr>
        <p:spPr>
          <a:xfrm>
            <a:off x="895350" y="4295775"/>
            <a:ext cx="76200" cy="7620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FD1465-2FD5-42A0-8C25-6B139C898FDF}"/>
              </a:ext>
            </a:extLst>
          </p:cNvPr>
          <p:cNvSpPr>
            <a:spLocks noGrp="1"/>
          </p:cNvSpPr>
          <p:nvPr/>
        </p:nvSpPr>
        <p:spPr>
          <a:xfrm>
            <a:off x="1066800" y="424815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rentevast reset +200 bps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A0B43F-B52A-4980-8AC8-64BFAF330BDD}"/>
              </a:ext>
            </a:extLst>
          </p:cNvPr>
          <p:cNvSpPr>
            <a:spLocks noGrp="1"/>
          </p:cNvSpPr>
          <p:nvPr/>
        </p:nvSpPr>
        <p:spPr>
          <a:xfrm>
            <a:off x="895350" y="4695825"/>
            <a:ext cx="76200" cy="7620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CCC833-0E0A-43BD-9BD3-9E25830F4C00}"/>
              </a:ext>
            </a:extLst>
          </p:cNvPr>
          <p:cNvSpPr>
            <a:spLocks noGrp="1"/>
          </p:cNvSpPr>
          <p:nvPr/>
        </p:nvSpPr>
        <p:spPr>
          <a:xfrm>
            <a:off x="1066800" y="46482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energy-label transition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105288-5C31-46E7-ACE1-EA4F96A38A7D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32575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BD901E-1727-478F-ACB3-533D0350B20E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3257550" cy="9525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80F55-EA9E-419B-9517-893230265C18}"/>
              </a:ext>
            </a:extLst>
          </p:cNvPr>
          <p:cNvSpPr>
            <a:spLocks noGrp="1"/>
          </p:cNvSpPr>
          <p:nvPr/>
        </p:nvSpPr>
        <p:spPr>
          <a:xfrm>
            <a:off x="4686300" y="2343150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SICR triggers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A41D51-2E23-415D-8EAF-023D3BCF1539}"/>
              </a:ext>
            </a:extLst>
          </p:cNvPr>
          <p:cNvSpPr>
            <a:spLocks noGrp="1"/>
          </p:cNvSpPr>
          <p:nvPr/>
        </p:nvSpPr>
        <p:spPr>
          <a:xfrm>
            <a:off x="4686300" y="272415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Stage moves require explainable reasons.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C84515-88B8-46BA-BD26-8B129A860ECA}"/>
              </a:ext>
            </a:extLst>
          </p:cNvPr>
          <p:cNvSpPr>
            <a:spLocks noGrp="1"/>
          </p:cNvSpPr>
          <p:nvPr/>
        </p:nvSpPr>
        <p:spPr>
          <a:xfrm>
            <a:off x="4705350" y="3495675"/>
            <a:ext cx="76200" cy="7620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9149A8-FFE9-48ED-8DD7-B2D87DBC67F8}"/>
              </a:ext>
            </a:extLst>
          </p:cNvPr>
          <p:cNvSpPr>
            <a:spLocks noGrp="1"/>
          </p:cNvSpPr>
          <p:nvPr/>
        </p:nvSpPr>
        <p:spPr>
          <a:xfrm>
            <a:off x="4876800" y="344805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PD lifetime uplift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929B21-D130-4B7F-AC92-82CE1A9A6A9B}"/>
              </a:ext>
            </a:extLst>
          </p:cNvPr>
          <p:cNvSpPr>
            <a:spLocks noGrp="1"/>
          </p:cNvSpPr>
          <p:nvPr/>
        </p:nvSpPr>
        <p:spPr>
          <a:xfrm>
            <a:off x="4705350" y="3895725"/>
            <a:ext cx="76200" cy="7620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65F787-DDC8-4494-9684-E1644AEF6BB4}"/>
              </a:ext>
            </a:extLst>
          </p:cNvPr>
          <p:cNvSpPr>
            <a:spLocks noGrp="1"/>
          </p:cNvSpPr>
          <p:nvPr/>
        </p:nvSpPr>
        <p:spPr>
          <a:xfrm>
            <a:off x="4876800" y="38481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30 dpd backstop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AA78F5-D0B6-47DE-B352-82106997ECA1}"/>
              </a:ext>
            </a:extLst>
          </p:cNvPr>
          <p:cNvSpPr>
            <a:spLocks noGrp="1"/>
          </p:cNvSpPr>
          <p:nvPr/>
        </p:nvSpPr>
        <p:spPr>
          <a:xfrm>
            <a:off x="4705350" y="4295775"/>
            <a:ext cx="76200" cy="7620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C382EF-A0AB-40FC-8610-759A18A4DF0A}"/>
              </a:ext>
            </a:extLst>
          </p:cNvPr>
          <p:cNvSpPr>
            <a:spLocks noGrp="1"/>
          </p:cNvSpPr>
          <p:nvPr/>
        </p:nvSpPr>
        <p:spPr>
          <a:xfrm>
            <a:off x="4876800" y="424815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forbearance / watch list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0A6672-50F8-4990-8F06-E53CB9747A9E}"/>
              </a:ext>
            </a:extLst>
          </p:cNvPr>
          <p:cNvSpPr>
            <a:spLocks noGrp="1"/>
          </p:cNvSpPr>
          <p:nvPr/>
        </p:nvSpPr>
        <p:spPr>
          <a:xfrm>
            <a:off x="4705350" y="4695825"/>
            <a:ext cx="76200" cy="7620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F84945-D31B-4734-B75D-36218C2AFEE0}"/>
              </a:ext>
            </a:extLst>
          </p:cNvPr>
          <p:cNvSpPr>
            <a:spLocks noGrp="1"/>
          </p:cNvSpPr>
          <p:nvPr/>
        </p:nvSpPr>
        <p:spPr>
          <a:xfrm>
            <a:off x="4876800" y="46482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macro and climate overlays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EF1035-3678-41CA-8367-7F8A8C9173D4}"/>
              </a:ext>
            </a:extLst>
          </p:cNvPr>
          <p:cNvSpPr>
            <a:spLocks noGrp="1"/>
          </p:cNvSpPr>
          <p:nvPr/>
        </p:nvSpPr>
        <p:spPr>
          <a:xfrm>
            <a:off x="8286750" y="2076450"/>
            <a:ext cx="32575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0CA8B9-C860-4820-AF2A-8E4DD5298566}"/>
              </a:ext>
            </a:extLst>
          </p:cNvPr>
          <p:cNvSpPr>
            <a:spLocks noGrp="1"/>
          </p:cNvSpPr>
          <p:nvPr/>
        </p:nvSpPr>
        <p:spPr>
          <a:xfrm>
            <a:off x="8286750" y="2076450"/>
            <a:ext cx="3257550" cy="9525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5D7A06-3501-4D55-AA17-093D475BF139}"/>
              </a:ext>
            </a:extLst>
          </p:cNvPr>
          <p:cNvSpPr>
            <a:spLocks noGrp="1"/>
          </p:cNvSpPr>
          <p:nvPr/>
        </p:nvSpPr>
        <p:spPr>
          <a:xfrm>
            <a:off x="8496300" y="2343150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Anomaly detection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C80734-918B-4FFE-968C-B0E8B87F8D4D}"/>
              </a:ext>
            </a:extLst>
          </p:cNvPr>
          <p:cNvSpPr>
            <a:spLocks noGrp="1"/>
          </p:cNvSpPr>
          <p:nvPr/>
        </p:nvSpPr>
        <p:spPr>
          <a:xfrm>
            <a:off x="8496300" y="272415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Unexpected loans remain reviewable.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21F806-D9C8-45AF-84D5-C42ADD9747EF}"/>
              </a:ext>
            </a:extLst>
          </p:cNvPr>
          <p:cNvSpPr>
            <a:spLocks noGrp="1"/>
          </p:cNvSpPr>
          <p:nvPr/>
        </p:nvSpPr>
        <p:spPr>
          <a:xfrm>
            <a:off x="8515350" y="3495675"/>
            <a:ext cx="76200" cy="7620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8A1E08-1BF6-4D4C-8105-07C00615E6D6}"/>
              </a:ext>
            </a:extLst>
          </p:cNvPr>
          <p:cNvSpPr>
            <a:spLocks noGrp="1"/>
          </p:cNvSpPr>
          <p:nvPr/>
        </p:nvSpPr>
        <p:spPr>
          <a:xfrm>
            <a:off x="8686800" y="344805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vintage drift lines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B013A1-C35B-4371-ADA0-6D2BB99771E0}"/>
              </a:ext>
            </a:extLst>
          </p:cNvPr>
          <p:cNvSpPr>
            <a:spLocks noGrp="1"/>
          </p:cNvSpPr>
          <p:nvPr/>
        </p:nvSpPr>
        <p:spPr>
          <a:xfrm>
            <a:off x="8515350" y="3895725"/>
            <a:ext cx="76200" cy="7620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9CCA301-40C9-4046-859F-00FC987883E5}"/>
              </a:ext>
            </a:extLst>
          </p:cNvPr>
          <p:cNvSpPr>
            <a:spLocks noGrp="1"/>
          </p:cNvSpPr>
          <p:nvPr/>
        </p:nvSpPr>
        <p:spPr>
          <a:xfrm>
            <a:off x="8686800" y="38481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KS-test distribution shift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400941-6238-40A8-9B48-EEDD8C1910C9}"/>
              </a:ext>
            </a:extLst>
          </p:cNvPr>
          <p:cNvSpPr>
            <a:spLocks noGrp="1"/>
          </p:cNvSpPr>
          <p:nvPr/>
        </p:nvSpPr>
        <p:spPr>
          <a:xfrm>
            <a:off x="8515350" y="4295775"/>
            <a:ext cx="76200" cy="7620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F354B4-B290-47CD-9D06-EFD82BA20AD4}"/>
              </a:ext>
            </a:extLst>
          </p:cNvPr>
          <p:cNvSpPr>
            <a:spLocks noGrp="1"/>
          </p:cNvSpPr>
          <p:nvPr/>
        </p:nvSpPr>
        <p:spPr>
          <a:xfrm>
            <a:off x="8686800" y="424815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isolation forest outliers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7C645D-F538-41A2-9650-BE150041E578}"/>
              </a:ext>
            </a:extLst>
          </p:cNvPr>
          <p:cNvSpPr>
            <a:spLocks noGrp="1"/>
          </p:cNvSpPr>
          <p:nvPr/>
        </p:nvSpPr>
        <p:spPr>
          <a:xfrm>
            <a:off x="8515350" y="4695825"/>
            <a:ext cx="76200" cy="7620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5D062C-CE56-4826-874E-E578489C0885}"/>
              </a:ext>
            </a:extLst>
          </p:cNvPr>
          <p:cNvSpPr>
            <a:spLocks noGrp="1"/>
          </p:cNvSpPr>
          <p:nvPr/>
        </p:nvSpPr>
        <p:spPr>
          <a:xfrm>
            <a:off x="8686800" y="46482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rule fallback if model fails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4488BF-C893-47F7-87A7-5456029BC2E6}"/>
              </a:ext>
            </a:extLst>
          </p:cNvPr>
          <p:cNvSpPr>
            <a:spLocks noGrp="1"/>
          </p:cNvSpPr>
          <p:nvPr/>
        </p:nvSpPr>
        <p:spPr>
          <a:xfrm>
            <a:off x="2038350" y="5695950"/>
            <a:ext cx="8115300" cy="38100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9DEA99D-D7EB-4D45-B21D-94CBB8FB27DC}"/>
              </a:ext>
            </a:extLst>
          </p:cNvPr>
          <p:cNvSpPr>
            <a:spLocks noGrp="1"/>
          </p:cNvSpPr>
          <p:nvPr/>
        </p:nvSpPr>
        <p:spPr>
          <a:xfrm>
            <a:off x="2305050" y="5810250"/>
            <a:ext cx="7581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Eval rubrics pin expected behavior: validation recall, stress delta within 2%, and SICR recall/specificity.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4CCD91-FCFB-401A-9FD9-16A5564620F1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docs/domain-primer.md, evals/rubrics/stress_scenario.md, evals/rubrics/sicr_triggers.md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0451934-FD83-4046-BC6C-E467CBE3741A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728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D49DCAE-E744-48E6-9E07-7024F43BFF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F6F3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kicker-07-marker">
            <a:extLst>
              <a:ext uri="{FF2B5EF4-FFF2-40B4-BE49-F238E27FC236}">
                <a16:creationId xmlns:a16="http://schemas.microsoft.com/office/drawing/2014/main" id="{75D66732-F7F6-42DF-8D77-125E21A73D8C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28575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kicker-07-label">
            <a:extLst>
              <a:ext uri="{FF2B5EF4-FFF2-40B4-BE49-F238E27FC236}">
                <a16:creationId xmlns:a16="http://schemas.microsoft.com/office/drawing/2014/main" id="{AE40C027-DFD3-45BA-9328-C50718975AD2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28D006-739C-47D7-BE27-D17439FCE884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88582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Governance gates control both portfolio runs and AI-assisted code changes.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30909-3415-4F0A-A0B3-C30E224932D3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project scope includes the harness that makes AI-authored regulated analytics reviewable.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131232-6B82-4320-8491-5A4540BFBAA6}"/>
              </a:ext>
            </a:extLst>
          </p:cNvPr>
          <p:cNvSpPr>
            <a:spLocks noGrp="1"/>
          </p:cNvSpPr>
          <p:nvPr/>
        </p:nvSpPr>
        <p:spPr>
          <a:xfrm>
            <a:off x="666750" y="2057400"/>
            <a:ext cx="10572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1179EF-A850-4156-9B2B-AB96CE74E88D}"/>
              </a:ext>
            </a:extLst>
          </p:cNvPr>
          <p:cNvSpPr>
            <a:spLocks noGrp="1"/>
          </p:cNvSpPr>
          <p:nvPr/>
        </p:nvSpPr>
        <p:spPr>
          <a:xfrm>
            <a:off x="666750" y="2057400"/>
            <a:ext cx="95250" cy="55245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903FF1-81E8-4E72-B5EE-15ACE9322704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1st 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C1ECCB-8E0C-40DE-A411-EDA4CEB6B702}"/>
              </a:ext>
            </a:extLst>
          </p:cNvPr>
          <p:cNvSpPr>
            <a:spLocks noGrp="1"/>
          </p:cNvSpPr>
          <p:nvPr/>
        </p:nvSpPr>
        <p:spPr>
          <a:xfrm>
            <a:off x="2266950" y="21907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Credit Risk Portfolio Analytics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AC8256-82DC-4DFB-A4CD-BDB2FEC98E8F}"/>
              </a:ext>
            </a:extLst>
          </p:cNvPr>
          <p:cNvSpPr>
            <a:spLocks noGrp="1"/>
          </p:cNvSpPr>
          <p:nvPr/>
        </p:nvSpPr>
        <p:spPr>
          <a:xfrm>
            <a:off x="5334000" y="21907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builds, runs, documents, owns output quality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946319-6007-4BAD-A188-A572B4F238B9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10572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C30BF5-E240-49C1-8CE2-DE6C26155437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95250" cy="55245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6B2A4-59E1-42D9-BC33-CCAF9A11FD00}"/>
              </a:ext>
            </a:extLst>
          </p:cNvPr>
          <p:cNvSpPr>
            <a:spLocks noGrp="1"/>
          </p:cNvSpPr>
          <p:nvPr/>
        </p:nvSpPr>
        <p:spPr>
          <a:xfrm>
            <a:off x="952500" y="297180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2nd 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7AB60D-95F6-4AB9-98D7-2670F3829756}"/>
              </a:ext>
            </a:extLst>
          </p:cNvPr>
          <p:cNvSpPr>
            <a:spLocks noGrp="1"/>
          </p:cNvSpPr>
          <p:nvPr/>
        </p:nvSpPr>
        <p:spPr>
          <a:xfrm>
            <a:off x="2266950" y="29718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Risk + Compliance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AF574-0F24-4798-9A9D-BCEE5C48BD9B}"/>
              </a:ext>
            </a:extLst>
          </p:cNvPr>
          <p:cNvSpPr>
            <a:spLocks noGrp="1"/>
          </p:cNvSpPr>
          <p:nvPr/>
        </p:nvSpPr>
        <p:spPr>
          <a:xfrm>
            <a:off x="5334000" y="29718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challenges methods, approves regulated changes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0123BF-C752-4653-AFF0-2109DC08B339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10572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24FE4E-2E77-4249-BFAB-61518CA85E90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95250" cy="55245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CCEE59-836C-4BF2-8C55-8581FB5867DA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3rd 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D8BCF0-BC44-46E3-8B69-ACCC565C6D2D}"/>
              </a:ext>
            </a:extLst>
          </p:cNvPr>
          <p:cNvSpPr>
            <a:spLocks noGrp="1"/>
          </p:cNvSpPr>
          <p:nvPr/>
        </p:nvSpPr>
        <p:spPr>
          <a:xfrm>
            <a:off x="2266950" y="3752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Internal Audit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7CD1F1-B243-43F8-B4EC-C53C5D8D4685}"/>
              </a:ext>
            </a:extLst>
          </p:cNvPr>
          <p:cNvSpPr>
            <a:spLocks noGrp="1"/>
          </p:cNvSpPr>
          <p:nvPr/>
        </p:nvSpPr>
        <p:spPr>
          <a:xfrm>
            <a:off x="5334000" y="37528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assures governance, eval history, AI-Act conformance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EA2433-4D20-4B78-AD19-D880FF041F61}"/>
              </a:ext>
            </a:extLst>
          </p:cNvPr>
          <p:cNvSpPr>
            <a:spLocks noGrp="1"/>
          </p:cNvSpPr>
          <p:nvPr/>
        </p:nvSpPr>
        <p:spPr>
          <a:xfrm>
            <a:off x="704850" y="47053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and release gates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5F60D3-C6F1-4D00-9274-91788E40E93F}"/>
              </a:ext>
            </a:extLst>
          </p:cNvPr>
          <p:cNvSpPr>
            <a:spLocks noGrp="1"/>
          </p:cNvSpPr>
          <p:nvPr/>
        </p:nvSpPr>
        <p:spPr>
          <a:xfrm>
            <a:off x="704850" y="5029200"/>
            <a:ext cx="3143250" cy="514350"/>
          </a:xfrm>
          <a:prstGeom prst="rect">
            <a:avLst/>
          </a:prstGeom>
          <a:solidFill>
            <a:srgbClr val="EEE9DC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64B3F9-FE07-44B4-9AFE-958F33AD4BB8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CI green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13A61D-ACEA-486B-8B32-F60EFEB0527C}"/>
              </a:ext>
            </a:extLst>
          </p:cNvPr>
          <p:cNvSpPr>
            <a:spLocks noGrp="1"/>
          </p:cNvSpPr>
          <p:nvPr/>
        </p:nvSpPr>
        <p:spPr>
          <a:xfrm>
            <a:off x="2057400" y="51435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ruff + pytest + evals + secrets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451A23-FBF3-4EF8-9B6B-082EC1E764F8}"/>
              </a:ext>
            </a:extLst>
          </p:cNvPr>
          <p:cNvSpPr>
            <a:spLocks noGrp="1"/>
          </p:cNvSpPr>
          <p:nvPr/>
        </p:nvSpPr>
        <p:spPr>
          <a:xfrm>
            <a:off x="4324350" y="5029200"/>
            <a:ext cx="3143250" cy="514350"/>
          </a:xfrm>
          <a:prstGeom prst="rect">
            <a:avLst/>
          </a:prstGeom>
          <a:solidFill>
            <a:srgbClr val="EEE9DC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569D0A-7546-428F-A78C-CFC856EB97B4}"/>
              </a:ext>
            </a:extLst>
          </p:cNvPr>
          <p:cNvSpPr>
            <a:spLocks noGrp="1"/>
          </p:cNvSpPr>
          <p:nvPr/>
        </p:nvSpPr>
        <p:spPr>
          <a:xfrm>
            <a:off x="4476750" y="514350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TDD compliance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300EC0-0970-4ED4-9362-2C39BBD9A90F}"/>
              </a:ext>
            </a:extLst>
          </p:cNvPr>
          <p:cNvSpPr>
            <a:spLocks noGrp="1"/>
          </p:cNvSpPr>
          <p:nvPr/>
        </p:nvSpPr>
        <p:spPr>
          <a:xfrm>
            <a:off x="5676900" y="51435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src change has matching tests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70454E-8388-4B01-9F1B-F3DB4A8EA67A}"/>
              </a:ext>
            </a:extLst>
          </p:cNvPr>
          <p:cNvSpPr>
            <a:spLocks noGrp="1"/>
          </p:cNvSpPr>
          <p:nvPr/>
        </p:nvSpPr>
        <p:spPr>
          <a:xfrm>
            <a:off x="7943850" y="5029200"/>
            <a:ext cx="3143250" cy="514350"/>
          </a:xfrm>
          <a:prstGeom prst="rect">
            <a:avLst/>
          </a:prstGeom>
          <a:solidFill>
            <a:srgbClr val="EEE9DC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0C0565-0074-4F16-B5AF-50772EAC4E33}"/>
              </a:ext>
            </a:extLst>
          </p:cNvPr>
          <p:cNvSpPr>
            <a:spLocks noGrp="1"/>
          </p:cNvSpPr>
          <p:nvPr/>
        </p:nvSpPr>
        <p:spPr>
          <a:xfrm>
            <a:off x="8096250" y="514350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AI trailer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C57EBA-83DF-4400-BB8B-469A276431E5}"/>
              </a:ext>
            </a:extLst>
          </p:cNvPr>
          <p:cNvSpPr>
            <a:spLocks noGrp="1"/>
          </p:cNvSpPr>
          <p:nvPr/>
        </p:nvSpPr>
        <p:spPr>
          <a:xfrm>
            <a:off x="9296400" y="51435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[ai-assisted] commit marker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4E1473-7394-4904-B397-CFBFECEDFDE3}"/>
              </a:ext>
            </a:extLst>
          </p:cNvPr>
          <p:cNvSpPr>
            <a:spLocks noGrp="1"/>
          </p:cNvSpPr>
          <p:nvPr/>
        </p:nvSpPr>
        <p:spPr>
          <a:xfrm>
            <a:off x="704850" y="5581650"/>
            <a:ext cx="3143250" cy="514350"/>
          </a:xfrm>
          <a:prstGeom prst="rect">
            <a:avLst/>
          </a:prstGeom>
          <a:solidFill>
            <a:srgbClr val="EEE9DC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A57FA6-51D2-41D5-90F8-2AB86587CA5E}"/>
              </a:ext>
            </a:extLst>
          </p:cNvPr>
          <p:cNvSpPr>
            <a:spLocks noGrp="1"/>
          </p:cNvSpPr>
          <p:nvPr/>
        </p:nvSpPr>
        <p:spPr>
          <a:xfrm>
            <a:off x="857250" y="56959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Mass-change guard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2ABD5E-FCC0-4161-80EB-42872B7FBC4C}"/>
              </a:ext>
            </a:extLst>
          </p:cNvPr>
          <p:cNvSpPr>
            <a:spLocks noGrp="1"/>
          </p:cNvSpPr>
          <p:nvPr/>
        </p:nvSpPr>
        <p:spPr>
          <a:xfrm>
            <a:off x="2057400" y="5695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AI commit over 500 lines requires reason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C5FD0F-CFDB-4C02-B1EC-D066301D10C3}"/>
              </a:ext>
            </a:extLst>
          </p:cNvPr>
          <p:cNvSpPr>
            <a:spLocks noGrp="1"/>
          </p:cNvSpPr>
          <p:nvPr/>
        </p:nvSpPr>
        <p:spPr>
          <a:xfrm>
            <a:off x="4324350" y="5581650"/>
            <a:ext cx="3143250" cy="514350"/>
          </a:xfrm>
          <a:prstGeom prst="rect">
            <a:avLst/>
          </a:prstGeom>
          <a:solidFill>
            <a:srgbClr val="EEE9DC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097C41-DD8E-481A-935F-85650883B43B}"/>
              </a:ext>
            </a:extLst>
          </p:cNvPr>
          <p:cNvSpPr>
            <a:spLocks noGrp="1"/>
          </p:cNvSpPr>
          <p:nvPr/>
        </p:nvSpPr>
        <p:spPr>
          <a:xfrm>
            <a:off x="4476750" y="56959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2nd-line label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22655C-5B32-42E4-B593-069F17923462}"/>
              </a:ext>
            </a:extLst>
          </p:cNvPr>
          <p:cNvSpPr>
            <a:spLocks noGrp="1"/>
          </p:cNvSpPr>
          <p:nvPr/>
        </p:nvSpPr>
        <p:spPr>
          <a:xfrm>
            <a:off x="5676900" y="5695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regulated paths need approval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232AD44-55A1-42E0-A325-8592A799BEB4}"/>
              </a:ext>
            </a:extLst>
          </p:cNvPr>
          <p:cNvSpPr>
            <a:spLocks noGrp="1"/>
          </p:cNvSpPr>
          <p:nvPr/>
        </p:nvSpPr>
        <p:spPr>
          <a:xfrm>
            <a:off x="7943850" y="5581650"/>
            <a:ext cx="3143250" cy="514350"/>
          </a:xfrm>
          <a:prstGeom prst="rect">
            <a:avLst/>
          </a:prstGeom>
          <a:solidFill>
            <a:srgbClr val="EEE9DC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505BE9-AF00-4E9C-B290-E4C866777DA7}"/>
              </a:ext>
            </a:extLst>
          </p:cNvPr>
          <p:cNvSpPr>
            <a:spLocks noGrp="1"/>
          </p:cNvSpPr>
          <p:nvPr/>
        </p:nvSpPr>
        <p:spPr>
          <a:xfrm>
            <a:off x="8096250" y="56959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Inventory updates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E46F769-7724-4CB3-9866-1439B30F2409}"/>
              </a:ext>
            </a:extLst>
          </p:cNvPr>
          <p:cNvSpPr>
            <a:spLocks noGrp="1"/>
          </p:cNvSpPr>
          <p:nvPr/>
        </p:nvSpPr>
        <p:spPr>
          <a:xfrm>
            <a:off x="9296400" y="5695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new rule appears in model inventory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3758EE-E5FA-497D-ADEC-20654708A91F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docs/governance/three-lines-of-defense.md, change-management.md, raci.md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E9CD3D-503E-4C58-AF66-0455ED94F175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5566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C2663DD-DDB9-4964-BF0A-3A9E50450D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F6F3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FABC2C50-CB33-4CBF-9A02-EEFEAA766EB1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28575"/>
          </a:xfrm>
          <a:prstGeom prst="rect">
            <a:avLst/>
          </a:prstGeom>
          <a:solidFill>
            <a:srgbClr val="577A4F"/>
          </a:solidFill>
          <a:ln w="0">
            <a:solidFill>
              <a:srgbClr val="577A4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DCE639CE-E0A0-4C0C-ABFD-6C81506CA5BC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77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77A4F"/>
                </a:solidFill>
                <a:latin typeface="Aptos"/>
                <a:ea typeface="Aptos"/>
                <a:cs typeface="Aptos"/>
              </a:rPr>
              <a:t>DASHBOARDS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EAE33B-43B3-40BB-9ED4-FAD49EC8FCBB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88582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Dashboards are scoped as decision surfaces, with governance as the audit hub.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D1369-B5CD-435B-9498-BBA9203BA878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UI stays thin: every page reads from library outputs and exposes purpose, limits, status, and evidence.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442B23-45A5-45E9-991E-BDA8A0EEDEF1}"/>
              </a:ext>
            </a:extLst>
          </p:cNvPr>
          <p:cNvSpPr>
            <a:spLocks noGrp="1"/>
          </p:cNvSpPr>
          <p:nvPr/>
        </p:nvSpPr>
        <p:spPr>
          <a:xfrm>
            <a:off x="4457700" y="2914650"/>
            <a:ext cx="3276600" cy="15049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AB83AB-A2E3-4BA1-9C0F-B0E4AEE99814}"/>
              </a:ext>
            </a:extLst>
          </p:cNvPr>
          <p:cNvSpPr>
            <a:spLocks noGrp="1"/>
          </p:cNvSpPr>
          <p:nvPr/>
        </p:nvSpPr>
        <p:spPr>
          <a:xfrm>
            <a:off x="4686300" y="31432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Page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798ECF-1B9A-4378-9718-C2C9426A602C}"/>
              </a:ext>
            </a:extLst>
          </p:cNvPr>
          <p:cNvSpPr>
            <a:spLocks noGrp="1"/>
          </p:cNvSpPr>
          <p:nvPr/>
        </p:nvSpPr>
        <p:spPr>
          <a:xfrm>
            <a:off x="4686300" y="3371850"/>
            <a:ext cx="2647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rPr>
              <a:t>Governance dashboard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036E1F-75AD-418E-B277-BB8420C8711B}"/>
              </a:ext>
            </a:extLst>
          </p:cNvPr>
          <p:cNvSpPr>
            <a:spLocks noGrp="1"/>
          </p:cNvSpPr>
          <p:nvPr/>
        </p:nvSpPr>
        <p:spPr>
          <a:xfrm>
            <a:off x="4686300" y="3810000"/>
            <a:ext cx="2724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Ops pipeline + build pipeline + incidents + sign-off state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67F353-267F-42ED-BB95-B87AC8C06249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2286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307D24-1C62-4EF9-94B1-11E0BF13F047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2286000" cy="66675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64AB43-2E98-4338-9ABF-525A73589454}"/>
              </a:ext>
            </a:extLst>
          </p:cNvPr>
          <p:cNvSpPr>
            <a:spLocks noGrp="1"/>
          </p:cNvSpPr>
          <p:nvPr/>
        </p:nvSpPr>
        <p:spPr>
          <a:xfrm>
            <a:off x="1028700" y="241935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1 Quick Scan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63BFC6-3202-4719-9D5B-4ECF7F557BF6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exposure, PD, LTV, stage mix, NHG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F0C48C-CF46-479F-980A-C7873FDAA41C}"/>
              </a:ext>
            </a:extLst>
          </p:cNvPr>
          <p:cNvSpPr>
            <a:spLocks noGrp="1"/>
          </p:cNvSpPr>
          <p:nvPr/>
        </p:nvSpPr>
        <p:spPr>
          <a:xfrm>
            <a:off x="3524250" y="1809750"/>
            <a:ext cx="2286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1AABB5-65F7-4496-B256-94E42C67B47E}"/>
              </a:ext>
            </a:extLst>
          </p:cNvPr>
          <p:cNvSpPr>
            <a:spLocks noGrp="1"/>
          </p:cNvSpPr>
          <p:nvPr/>
        </p:nvSpPr>
        <p:spPr>
          <a:xfrm>
            <a:off x="3524250" y="1809750"/>
            <a:ext cx="2286000" cy="66675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13BF0D-2866-44BB-A266-4772167795BB}"/>
              </a:ext>
            </a:extLst>
          </p:cNvPr>
          <p:cNvSpPr>
            <a:spLocks noGrp="1"/>
          </p:cNvSpPr>
          <p:nvPr/>
        </p:nvSpPr>
        <p:spPr>
          <a:xfrm>
            <a:off x="3695700" y="20193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2 Portfolio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7042EB-54C3-42E8-8402-25D0480FAD1E}"/>
              </a:ext>
            </a:extLst>
          </p:cNvPr>
          <p:cNvSpPr>
            <a:spLocks noGrp="1"/>
          </p:cNvSpPr>
          <p:nvPr/>
        </p:nvSpPr>
        <p:spPr>
          <a:xfrm>
            <a:off x="3695700" y="22860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vintage, geo, product and LTV views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7DEF9B-294F-49BD-BB87-DD51A32C3428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2286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3EE085-FE8B-4E36-B3D3-B3E783936F9E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2286000" cy="66675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D9B240-AA12-43D2-8C80-D0621E4742FB}"/>
              </a:ext>
            </a:extLst>
          </p:cNvPr>
          <p:cNvSpPr>
            <a:spLocks noGrp="1"/>
          </p:cNvSpPr>
          <p:nvPr/>
        </p:nvSpPr>
        <p:spPr>
          <a:xfrm>
            <a:off x="6362700" y="20193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3 Stress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A493F7-03EF-4376-A990-241798B010ED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four NL-tuned scenario waterfalls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9527EA-5BA7-403F-9635-C3B090BF78BB}"/>
              </a:ext>
            </a:extLst>
          </p:cNvPr>
          <p:cNvSpPr>
            <a:spLocks noGrp="1"/>
          </p:cNvSpPr>
          <p:nvPr/>
        </p:nvSpPr>
        <p:spPr>
          <a:xfrm>
            <a:off x="8858250" y="2209800"/>
            <a:ext cx="2286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8B6B18-B81C-4CF1-A0BB-EFCB8FA61D6A}"/>
              </a:ext>
            </a:extLst>
          </p:cNvPr>
          <p:cNvSpPr>
            <a:spLocks noGrp="1"/>
          </p:cNvSpPr>
          <p:nvPr/>
        </p:nvSpPr>
        <p:spPr>
          <a:xfrm>
            <a:off x="8858250" y="2209800"/>
            <a:ext cx="2286000" cy="66675"/>
          </a:xfrm>
          <a:prstGeom prst="rect">
            <a:avLst/>
          </a:prstGeom>
          <a:solidFill>
            <a:srgbClr val="8C6A9E"/>
          </a:solidFill>
          <a:ln w="0">
            <a:solidFill>
              <a:srgbClr val="8C6A9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1392CE-FD7D-423E-A1FE-C3605661A5E9}"/>
              </a:ext>
            </a:extLst>
          </p:cNvPr>
          <p:cNvSpPr>
            <a:spLocks noGrp="1"/>
          </p:cNvSpPr>
          <p:nvPr/>
        </p:nvSpPr>
        <p:spPr>
          <a:xfrm>
            <a:off x="9029700" y="241935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4 Trends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2B7163-F8D1-4BA9-9848-C307C80599A6}"/>
              </a:ext>
            </a:extLst>
          </p:cNvPr>
          <p:cNvSpPr>
            <a:spLocks noGrp="1"/>
          </p:cNvSpPr>
          <p:nvPr/>
        </p:nvSpPr>
        <p:spPr>
          <a:xfrm>
            <a:off x="9029700" y="2686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drift, anomalies, per-loan reasons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AC7F6C-FD9D-425A-91F1-6FF7087CB5A1}"/>
              </a:ext>
            </a:extLst>
          </p:cNvPr>
          <p:cNvSpPr>
            <a:spLocks noGrp="1"/>
          </p:cNvSpPr>
          <p:nvPr/>
        </p:nvSpPr>
        <p:spPr>
          <a:xfrm>
            <a:off x="2190750" y="5048250"/>
            <a:ext cx="2286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C6ADD4-8C37-44E0-AFC4-8AF3FC63B90A}"/>
              </a:ext>
            </a:extLst>
          </p:cNvPr>
          <p:cNvSpPr>
            <a:spLocks noGrp="1"/>
          </p:cNvSpPr>
          <p:nvPr/>
        </p:nvSpPr>
        <p:spPr>
          <a:xfrm>
            <a:off x="2190750" y="5048250"/>
            <a:ext cx="2286000" cy="66675"/>
          </a:xfrm>
          <a:prstGeom prst="rect">
            <a:avLst/>
          </a:prstGeom>
          <a:solidFill>
            <a:srgbClr val="9E3B31"/>
          </a:solidFill>
          <a:ln w="0">
            <a:solidFill>
              <a:srgbClr val="9E3B3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5F495B-0889-4E13-A7DA-89C2906FE885}"/>
              </a:ext>
            </a:extLst>
          </p:cNvPr>
          <p:cNvSpPr>
            <a:spLocks noGrp="1"/>
          </p:cNvSpPr>
          <p:nvPr/>
        </p:nvSpPr>
        <p:spPr>
          <a:xfrm>
            <a:off x="2362200" y="52578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5 Validation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2B367E-639D-4A0B-AF30-550E8F5E1ABD}"/>
              </a:ext>
            </a:extLst>
          </p:cNvPr>
          <p:cNvSpPr>
            <a:spLocks noGrp="1"/>
          </p:cNvSpPr>
          <p:nvPr/>
        </p:nvSpPr>
        <p:spPr>
          <a:xfrm>
            <a:off x="2362200" y="55245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rule findings and report status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341EA1-0216-4054-A119-C8D28763D39D}"/>
              </a:ext>
            </a:extLst>
          </p:cNvPr>
          <p:cNvSpPr>
            <a:spLocks noGrp="1"/>
          </p:cNvSpPr>
          <p:nvPr/>
        </p:nvSpPr>
        <p:spPr>
          <a:xfrm>
            <a:off x="7715250" y="5048250"/>
            <a:ext cx="2286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96ED62-689B-42F6-84B5-A1A800C3D19D}"/>
              </a:ext>
            </a:extLst>
          </p:cNvPr>
          <p:cNvSpPr>
            <a:spLocks noGrp="1"/>
          </p:cNvSpPr>
          <p:nvPr/>
        </p:nvSpPr>
        <p:spPr>
          <a:xfrm>
            <a:off x="7715250" y="5048250"/>
            <a:ext cx="2286000" cy="66675"/>
          </a:xfrm>
          <a:prstGeom prst="rect">
            <a:avLst/>
          </a:prstGeom>
          <a:solidFill>
            <a:srgbClr val="577A4F"/>
          </a:solidFill>
          <a:ln w="0">
            <a:solidFill>
              <a:srgbClr val="577A4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ACA710-6AB5-42E2-B08B-8DB98AB91178}"/>
              </a:ext>
            </a:extLst>
          </p:cNvPr>
          <p:cNvSpPr>
            <a:spLocks noGrp="1"/>
          </p:cNvSpPr>
          <p:nvPr/>
        </p:nvSpPr>
        <p:spPr>
          <a:xfrm>
            <a:off x="7886700" y="525780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About / Limits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9DA515-1F2E-406B-8075-26B4EB6C3951}"/>
              </a:ext>
            </a:extLst>
          </p:cNvPr>
          <p:cNvSpPr>
            <a:spLocks noGrp="1"/>
          </p:cNvSpPr>
          <p:nvPr/>
        </p:nvSpPr>
        <p:spPr>
          <a:xfrm>
            <a:off x="7886700" y="55245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EU AI Act Art. 13 transparency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0C2B9E-1099-4A2F-9BB0-58A633A873DB}"/>
              </a:ext>
            </a:extLst>
          </p:cNvPr>
          <p:cNvSpPr>
            <a:spLocks noGrp="1"/>
          </p:cNvSpPr>
          <p:nvPr/>
        </p:nvSpPr>
        <p:spPr>
          <a:xfrm>
            <a:off x="3143250" y="2628900"/>
            <a:ext cx="1314450" cy="19050"/>
          </a:xfrm>
          <a:prstGeom prst="rect">
            <a:avLst/>
          </a:prstGeom>
          <a:solidFill>
            <a:srgbClr val="D6D3C8"/>
          </a:solidFill>
          <a:ln w="0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938A85-D46A-4C49-A6AF-294238429FC3}"/>
              </a:ext>
            </a:extLst>
          </p:cNvPr>
          <p:cNvSpPr>
            <a:spLocks noGrp="1"/>
          </p:cNvSpPr>
          <p:nvPr/>
        </p:nvSpPr>
        <p:spPr>
          <a:xfrm>
            <a:off x="4667250" y="2686050"/>
            <a:ext cx="552450" cy="19050"/>
          </a:xfrm>
          <a:prstGeom prst="rect">
            <a:avLst/>
          </a:prstGeom>
          <a:solidFill>
            <a:srgbClr val="D6D3C8"/>
          </a:solidFill>
          <a:ln w="0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917386-A71A-4B52-96F5-1FB9EA98A0C5}"/>
              </a:ext>
            </a:extLst>
          </p:cNvPr>
          <p:cNvSpPr>
            <a:spLocks noGrp="1"/>
          </p:cNvSpPr>
          <p:nvPr/>
        </p:nvSpPr>
        <p:spPr>
          <a:xfrm>
            <a:off x="7296150" y="2686050"/>
            <a:ext cx="0" cy="19050"/>
          </a:xfrm>
          <a:prstGeom prst="rect">
            <a:avLst/>
          </a:prstGeom>
          <a:solidFill>
            <a:srgbClr val="D6D3C8"/>
          </a:solidFill>
          <a:ln w="0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795F51-9D55-428F-B66D-23C0D468790D}"/>
              </a:ext>
            </a:extLst>
          </p:cNvPr>
          <p:cNvSpPr>
            <a:spLocks noGrp="1"/>
          </p:cNvSpPr>
          <p:nvPr/>
        </p:nvSpPr>
        <p:spPr>
          <a:xfrm>
            <a:off x="8858250" y="2628900"/>
            <a:ext cx="0" cy="19050"/>
          </a:xfrm>
          <a:prstGeom prst="rect">
            <a:avLst/>
          </a:prstGeom>
          <a:solidFill>
            <a:srgbClr val="D6D3C8"/>
          </a:solidFill>
          <a:ln w="0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91F692-C119-4C55-BA9C-77DD839A9855}"/>
              </a:ext>
            </a:extLst>
          </p:cNvPr>
          <p:cNvSpPr>
            <a:spLocks noGrp="1"/>
          </p:cNvSpPr>
          <p:nvPr/>
        </p:nvSpPr>
        <p:spPr>
          <a:xfrm>
            <a:off x="4476750" y="5486400"/>
            <a:ext cx="742950" cy="19050"/>
          </a:xfrm>
          <a:prstGeom prst="rect">
            <a:avLst/>
          </a:prstGeom>
          <a:solidFill>
            <a:srgbClr val="D6D3C8"/>
          </a:solidFill>
          <a:ln w="0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534B60-51A8-4EB2-A523-54C5D3CE7E46}"/>
              </a:ext>
            </a:extLst>
          </p:cNvPr>
          <p:cNvSpPr>
            <a:spLocks noGrp="1"/>
          </p:cNvSpPr>
          <p:nvPr/>
        </p:nvSpPr>
        <p:spPr>
          <a:xfrm>
            <a:off x="7715250" y="5486400"/>
            <a:ext cx="0" cy="19050"/>
          </a:xfrm>
          <a:prstGeom prst="rect">
            <a:avLst/>
          </a:prstGeom>
          <a:solidFill>
            <a:srgbClr val="D6D3C8"/>
          </a:solidFill>
          <a:ln w="0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910C86-A2F5-4751-8D78-57E4AF56D17D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README.md, docs/architecture.md, app/streamlit_app.py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F6D5833-1A84-4973-B298-60C3D9837603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746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37BFC95-7063-492B-80ED-28D7FDB73E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F6F3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36F018DD-079B-447B-9047-4642061FC9FD}"/>
              </a:ext>
            </a:extLst>
          </p:cNvPr>
          <p:cNvSpPr>
            <a:spLocks noGrp="1"/>
          </p:cNvSpPr>
          <p:nvPr/>
        </p:nvSpPr>
        <p:spPr>
          <a:xfrm>
            <a:off x="514350" y="390525"/>
            <a:ext cx="266700" cy="28575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1191A154-F032-4A4C-AC73-28CA09166FA4}"/>
              </a:ext>
            </a:extLst>
          </p:cNvPr>
          <p:cNvSpPr>
            <a:spLocks noGrp="1"/>
          </p:cNvSpPr>
          <p:nvPr/>
        </p:nvSpPr>
        <p:spPr>
          <a:xfrm>
            <a:off x="876300" y="323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BUILD-OUT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C16F9-DE0C-4185-B7EB-91AE8567D102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88582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repo is currently a scaffold with a clear target build-out.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F65588-58BD-4308-89AE-4619D00938C4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honest project scope is the product contract plus the staged implementation plan; today, only the foundation is checked in.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622730-313F-4875-9A6C-800F524CB6C7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32004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4B6CE1-0853-481A-BD91-16DD0309B4A5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3200400" cy="85725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985BB4-89E5-43BD-A7E5-C63CBBFC5A6F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Current foundation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0E7400-D77B-465A-9555-8A0722043DC3}"/>
              </a:ext>
            </a:extLst>
          </p:cNvPr>
          <p:cNvSpPr>
            <a:spLocks noGrp="1"/>
          </p:cNvSpPr>
          <p:nvPr/>
        </p:nvSpPr>
        <p:spPr>
          <a:xfrm>
            <a:off x="971550" y="308610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54E7E2-2CCE-49CF-B43B-40E9BD61261C}"/>
              </a:ext>
            </a:extLst>
          </p:cNvPr>
          <p:cNvSpPr>
            <a:spLocks noGrp="1"/>
          </p:cNvSpPr>
          <p:nvPr/>
        </p:nvSpPr>
        <p:spPr>
          <a:xfrm>
            <a:off x="1123950" y="318135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README and domain docs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F51F1D-1D37-46EF-9EB5-67BCE8DD655A}"/>
              </a:ext>
            </a:extLst>
          </p:cNvPr>
          <p:cNvSpPr>
            <a:spLocks noGrp="1"/>
          </p:cNvSpPr>
          <p:nvPr/>
        </p:nvSpPr>
        <p:spPr>
          <a:xfrm>
            <a:off x="971550" y="363855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E5C416-C2A3-4484-95D0-9CD1C02C9CFF}"/>
              </a:ext>
            </a:extLst>
          </p:cNvPr>
          <p:cNvSpPr>
            <a:spLocks noGrp="1"/>
          </p:cNvSpPr>
          <p:nvPr/>
        </p:nvSpPr>
        <p:spPr>
          <a:xfrm>
            <a:off x="1123950" y="37338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governance and EU AI Act position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F8CB79-B174-42FE-88D9-4BC9E2A693D5}"/>
              </a:ext>
            </a:extLst>
          </p:cNvPr>
          <p:cNvSpPr>
            <a:spLocks noGrp="1"/>
          </p:cNvSpPr>
          <p:nvPr/>
        </p:nvSpPr>
        <p:spPr>
          <a:xfrm>
            <a:off x="971550" y="419100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5FC9C-56B8-4303-8C53-625806AE1874}"/>
              </a:ext>
            </a:extLst>
          </p:cNvPr>
          <p:cNvSpPr>
            <a:spLocks noGrp="1"/>
          </p:cNvSpPr>
          <p:nvPr/>
        </p:nvSpPr>
        <p:spPr>
          <a:xfrm>
            <a:off x="1123950" y="428625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placeholder schema and 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13A356-B480-4128-9A4F-A104BDBE1494}"/>
              </a:ext>
            </a:extLst>
          </p:cNvPr>
          <p:cNvSpPr>
            <a:spLocks noGrp="1"/>
          </p:cNvSpPr>
          <p:nvPr/>
        </p:nvSpPr>
        <p:spPr>
          <a:xfrm>
            <a:off x="971550" y="474345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9F5AB3-B4B3-4DC5-8B9F-BFB2F62378D7}"/>
              </a:ext>
            </a:extLst>
          </p:cNvPr>
          <p:cNvSpPr>
            <a:spLocks noGrp="1"/>
          </p:cNvSpPr>
          <p:nvPr/>
        </p:nvSpPr>
        <p:spPr>
          <a:xfrm>
            <a:off x="1123950" y="48387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smoke tests and eval runner skeleton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9F088-094F-40C9-9C1C-C2D4ACB7F8CB}"/>
              </a:ext>
            </a:extLst>
          </p:cNvPr>
          <p:cNvSpPr>
            <a:spLocks noGrp="1"/>
          </p:cNvSpPr>
          <p:nvPr/>
        </p:nvSpPr>
        <p:spPr>
          <a:xfrm>
            <a:off x="4495800" y="2266950"/>
            <a:ext cx="32004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CCA576-4959-4BA8-9368-F5E53E76A3E1}"/>
              </a:ext>
            </a:extLst>
          </p:cNvPr>
          <p:cNvSpPr>
            <a:spLocks noGrp="1"/>
          </p:cNvSpPr>
          <p:nvPr/>
        </p:nvSpPr>
        <p:spPr>
          <a:xfrm>
            <a:off x="4495800" y="2266950"/>
            <a:ext cx="3200400" cy="85725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E5D098-1152-4D85-8DE0-D308287292D2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Next build slice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C43B27-93D8-4493-AD6C-9A760BF1BE8D}"/>
              </a:ext>
            </a:extLst>
          </p:cNvPr>
          <p:cNvSpPr>
            <a:spLocks noGrp="1"/>
          </p:cNvSpPr>
          <p:nvPr/>
        </p:nvSpPr>
        <p:spPr>
          <a:xfrm>
            <a:off x="4724400" y="308610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8793FC-BB45-44C0-B0CA-377A55E92DCE}"/>
              </a:ext>
            </a:extLst>
          </p:cNvPr>
          <p:cNvSpPr>
            <a:spLocks noGrp="1"/>
          </p:cNvSpPr>
          <p:nvPr/>
        </p:nvSpPr>
        <p:spPr>
          <a:xfrm>
            <a:off x="4876800" y="318135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full Dutch mortgage schema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B672D5-31CF-4FA0-A106-536E1C602050}"/>
              </a:ext>
            </a:extLst>
          </p:cNvPr>
          <p:cNvSpPr>
            <a:spLocks noGrp="1"/>
          </p:cNvSpPr>
          <p:nvPr/>
        </p:nvSpPr>
        <p:spPr>
          <a:xfrm>
            <a:off x="4724400" y="363855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A44EE-CA33-4C62-A2CB-51FF7CAA55C0}"/>
              </a:ext>
            </a:extLst>
          </p:cNvPr>
          <p:cNvSpPr>
            <a:spLocks noGrp="1"/>
          </p:cNvSpPr>
          <p:nvPr/>
        </p:nvSpPr>
        <p:spPr>
          <a:xfrm>
            <a:off x="4876800" y="37338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deterministic tape generator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3C8770-C682-4494-891D-EAE26E57E1AA}"/>
              </a:ext>
            </a:extLst>
          </p:cNvPr>
          <p:cNvSpPr>
            <a:spLocks noGrp="1"/>
          </p:cNvSpPr>
          <p:nvPr/>
        </p:nvSpPr>
        <p:spPr>
          <a:xfrm>
            <a:off x="4724400" y="419100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F661D6-00E0-4756-AC88-91399F737AF1}"/>
              </a:ext>
            </a:extLst>
          </p:cNvPr>
          <p:cNvSpPr>
            <a:spLocks noGrp="1"/>
          </p:cNvSpPr>
          <p:nvPr/>
        </p:nvSpPr>
        <p:spPr>
          <a:xfrm>
            <a:off x="4876800" y="428625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validation rules and reports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73F33A-3957-45A6-B7D8-5BCD964E9D1C}"/>
              </a:ext>
            </a:extLst>
          </p:cNvPr>
          <p:cNvSpPr>
            <a:spLocks noGrp="1"/>
          </p:cNvSpPr>
          <p:nvPr/>
        </p:nvSpPr>
        <p:spPr>
          <a:xfrm>
            <a:off x="4724400" y="474345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38C1FA-7FF2-45D2-B7AE-63ACB00B014D}"/>
              </a:ext>
            </a:extLst>
          </p:cNvPr>
          <p:cNvSpPr>
            <a:spLocks noGrp="1"/>
          </p:cNvSpPr>
          <p:nvPr/>
        </p:nvSpPr>
        <p:spPr>
          <a:xfrm>
            <a:off x="4876800" y="48387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quick scan dashboard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FB24C5-A7A9-48F5-8FC7-97E1DF0B3FAF}"/>
              </a:ext>
            </a:extLst>
          </p:cNvPr>
          <p:cNvSpPr>
            <a:spLocks noGrp="1"/>
          </p:cNvSpPr>
          <p:nvPr/>
        </p:nvSpPr>
        <p:spPr>
          <a:xfrm>
            <a:off x="8248650" y="2266950"/>
            <a:ext cx="32004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3C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C23B76-ABDF-4B3A-BDAA-3AC2EC69416C}"/>
              </a:ext>
            </a:extLst>
          </p:cNvPr>
          <p:cNvSpPr>
            <a:spLocks noGrp="1"/>
          </p:cNvSpPr>
          <p:nvPr/>
        </p:nvSpPr>
        <p:spPr>
          <a:xfrm>
            <a:off x="8248650" y="2266950"/>
            <a:ext cx="3200400" cy="85725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7FB1F7-ACA4-42B0-8539-6265D2F2DFC3}"/>
              </a:ext>
            </a:extLst>
          </p:cNvPr>
          <p:cNvSpPr>
            <a:spLocks noGrp="1"/>
          </p:cNvSpPr>
          <p:nvPr/>
        </p:nvSpPr>
        <p:spPr>
          <a:xfrm>
            <a:off x="8458200" y="2571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Target platform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2165F3-338E-4B40-AAE4-F217AE125428}"/>
              </a:ext>
            </a:extLst>
          </p:cNvPr>
          <p:cNvSpPr>
            <a:spLocks noGrp="1"/>
          </p:cNvSpPr>
          <p:nvPr/>
        </p:nvSpPr>
        <p:spPr>
          <a:xfrm>
            <a:off x="8477250" y="308610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6E9539-73EC-46A1-BEEA-AE48B7176834}"/>
              </a:ext>
            </a:extLst>
          </p:cNvPr>
          <p:cNvSpPr>
            <a:spLocks noGrp="1"/>
          </p:cNvSpPr>
          <p:nvPr/>
        </p:nvSpPr>
        <p:spPr>
          <a:xfrm>
            <a:off x="8629650" y="318135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portfolio analysis and stress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F115A2-8428-441C-AA4A-BFDECF961EFF}"/>
              </a:ext>
            </a:extLst>
          </p:cNvPr>
          <p:cNvSpPr>
            <a:spLocks noGrp="1"/>
          </p:cNvSpPr>
          <p:nvPr/>
        </p:nvSpPr>
        <p:spPr>
          <a:xfrm>
            <a:off x="8477250" y="363855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63D125-64FB-4B6F-A4B6-F3E0DE9E6A11}"/>
              </a:ext>
            </a:extLst>
          </p:cNvPr>
          <p:cNvSpPr>
            <a:spLocks noGrp="1"/>
          </p:cNvSpPr>
          <p:nvPr/>
        </p:nvSpPr>
        <p:spPr>
          <a:xfrm>
            <a:off x="8629650" y="37338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SICR and ECL analytics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CA164C-3DD4-49FC-8CF5-84638594A128}"/>
              </a:ext>
            </a:extLst>
          </p:cNvPr>
          <p:cNvSpPr>
            <a:spLocks noGrp="1"/>
          </p:cNvSpPr>
          <p:nvPr/>
        </p:nvSpPr>
        <p:spPr>
          <a:xfrm>
            <a:off x="8477250" y="419100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A46615-2D71-4E9A-8A76-BBD117323FBF}"/>
              </a:ext>
            </a:extLst>
          </p:cNvPr>
          <p:cNvSpPr>
            <a:spLocks noGrp="1"/>
          </p:cNvSpPr>
          <p:nvPr/>
        </p:nvSpPr>
        <p:spPr>
          <a:xfrm>
            <a:off x="8629650" y="428625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trend and anomaly detection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F482A5-B605-4AB3-A155-5FA48E10485E}"/>
              </a:ext>
            </a:extLst>
          </p:cNvPr>
          <p:cNvSpPr>
            <a:spLocks noGrp="1"/>
          </p:cNvSpPr>
          <p:nvPr/>
        </p:nvSpPr>
        <p:spPr>
          <a:xfrm>
            <a:off x="8477250" y="4743450"/>
            <a:ext cx="2743200" cy="400050"/>
          </a:xfrm>
          <a:prstGeom prst="rect">
            <a:avLst/>
          </a:prstGeom>
          <a:solidFill>
            <a:srgbClr val="EEE9DC"/>
          </a:solidFill>
          <a:ln w="0">
            <a:solidFill>
              <a:srgbClr val="EEE9D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05AE49-AA26-4869-A75A-45C3BACF78A7}"/>
              </a:ext>
            </a:extLst>
          </p:cNvPr>
          <p:cNvSpPr>
            <a:spLocks noGrp="1"/>
          </p:cNvSpPr>
          <p:nvPr/>
        </p:nvSpPr>
        <p:spPr>
          <a:xfrm>
            <a:off x="8629650" y="48387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governance dashboard with audit state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505554-79B9-40E0-8A57-A1E0B7DDE712}"/>
              </a:ext>
            </a:extLst>
          </p:cNvPr>
          <p:cNvSpPr>
            <a:spLocks noGrp="1"/>
          </p:cNvSpPr>
          <p:nvPr/>
        </p:nvSpPr>
        <p:spPr>
          <a:xfrm>
            <a:off x="1752600" y="5734050"/>
            <a:ext cx="8667750" cy="38100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305AE9-D8C5-4DA7-BE4B-CB56ACF6AB07}"/>
              </a:ext>
            </a:extLst>
          </p:cNvPr>
          <p:cNvSpPr>
            <a:spLocks noGrp="1"/>
          </p:cNvSpPr>
          <p:nvPr/>
        </p:nvSpPr>
        <p:spPr>
          <a:xfrm>
            <a:off x="2019300" y="5848350"/>
            <a:ext cx="813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Presentation wording separates target scope from implemented status to avoid overstating the current artifact.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0346A8-C38F-409E-8131-415FE489C782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current code, README.md, docs/build-narrative.md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FE45A1-9652-4049-A67A-35F1F21AF8A2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0593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00F995E-54AB-42DE-81BC-AEDD987DA7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F8FFA195-8924-4B74-84B5-776FDC3B3BF8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266700" cy="28575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B7B951D4-54F6-43F8-82AF-2D3EB4CC7EAA}"/>
              </a:ext>
            </a:extLst>
          </p:cNvPr>
          <p:cNvSpPr>
            <a:spLocks noGrp="1"/>
          </p:cNvSpPr>
          <p:nvPr/>
        </p:nvSpPr>
        <p:spPr>
          <a:xfrm>
            <a:off x="971550" y="4191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01A299-1F61-4C54-8FC8-09C012620CC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3820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rPr>
              <a:t>A reviewer should see one controlled product system.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F1342E-B523-42FA-B5FE-7A62703F976E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2C7"/>
                </a:solidFill>
                <a:latin typeface="Aptos"/>
                <a:ea typeface="Aptos"/>
                <a:cs typeface="Aptos"/>
              </a:rPr>
              <a:t>The scope is not maximum feature volume. It is a defensible path from synthetic tape to risk insight to governed publication.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2867BA-578C-4DAF-B7B6-C130E53B9185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0439400" cy="6286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9B6F70-853D-4040-98EE-D2E45D24ACA5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76200" cy="628650"/>
          </a:xfrm>
          <a:prstGeom prst="rect">
            <a:avLst/>
          </a:prstGeom>
          <a:solidFill>
            <a:srgbClr val="2C7A7B"/>
          </a:solidFill>
          <a:ln w="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EA1707-6D33-4D8B-9DD1-EFE64AE6FA86}"/>
              </a:ext>
            </a:extLst>
          </p:cNvPr>
          <p:cNvSpPr>
            <a:spLocks noGrp="1"/>
          </p:cNvSpPr>
          <p:nvPr/>
        </p:nvSpPr>
        <p:spPr>
          <a:xfrm>
            <a:off x="1200150" y="3352800"/>
            <a:ext cx="1314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C7A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C7A7B"/>
                </a:solidFill>
                <a:latin typeface="Aptos"/>
                <a:ea typeface="Aptos"/>
                <a:cs typeface="Aptos"/>
              </a:rPr>
              <a:t>In scope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C6D43-9599-4E2E-A461-60000223141A}"/>
              </a:ext>
            </a:extLst>
          </p:cNvPr>
          <p:cNvSpPr>
            <a:spLocks noGrp="1"/>
          </p:cNvSpPr>
          <p:nvPr/>
        </p:nvSpPr>
        <p:spPr>
          <a:xfrm>
            <a:off x="2895600" y="3314700"/>
            <a:ext cx="7639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3EC"/>
                </a:solidFill>
                <a:latin typeface="Aptos"/>
                <a:ea typeface="Aptos"/>
                <a:cs typeface="Aptos"/>
              </a:rPr>
              <a:t>synthetic Dutch mortgage data, portfolio analytics, validation, stress, anomaly detection, governance 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E1CBE3-BEB9-44B9-9039-549C5119DB2F}"/>
              </a:ext>
            </a:extLst>
          </p:cNvPr>
          <p:cNvSpPr>
            <a:spLocks noGrp="1"/>
          </p:cNvSpPr>
          <p:nvPr/>
        </p:nvSpPr>
        <p:spPr>
          <a:xfrm>
            <a:off x="876300" y="4038600"/>
            <a:ext cx="10439400" cy="6286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6CDC43-91FA-4239-B1C5-37BE540622B2}"/>
              </a:ext>
            </a:extLst>
          </p:cNvPr>
          <p:cNvSpPr>
            <a:spLocks noGrp="1"/>
          </p:cNvSpPr>
          <p:nvPr/>
        </p:nvSpPr>
        <p:spPr>
          <a:xfrm>
            <a:off x="876300" y="4038600"/>
            <a:ext cx="76200" cy="628650"/>
          </a:xfrm>
          <a:prstGeom prst="rect">
            <a:avLst/>
          </a:prstGeom>
          <a:solidFill>
            <a:srgbClr val="B65C3A"/>
          </a:solidFill>
          <a:ln w="0">
            <a:solidFill>
              <a:srgbClr val="B65C3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2DBDC6-92EE-4A80-BDEB-1D5933D3D1E9}"/>
              </a:ext>
            </a:extLst>
          </p:cNvPr>
          <p:cNvSpPr>
            <a:spLocks noGrp="1"/>
          </p:cNvSpPr>
          <p:nvPr/>
        </p:nvSpPr>
        <p:spPr>
          <a:xfrm>
            <a:off x="1200150" y="4229100"/>
            <a:ext cx="1314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65C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5C3A"/>
                </a:solidFill>
                <a:latin typeface="Aptos"/>
                <a:ea typeface="Aptos"/>
                <a:cs typeface="Aptos"/>
              </a:rPr>
              <a:t>Out of scope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EC0C5D-8A9F-4B62-B1AA-626D2EDA2A89}"/>
              </a:ext>
            </a:extLst>
          </p:cNvPr>
          <p:cNvSpPr>
            <a:spLocks noGrp="1"/>
          </p:cNvSpPr>
          <p:nvPr/>
        </p:nvSpPr>
        <p:spPr>
          <a:xfrm>
            <a:off x="2895600" y="4191000"/>
            <a:ext cx="7639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3EC"/>
                </a:solidFill>
                <a:latin typeface="Aptos"/>
                <a:ea typeface="Aptos"/>
                <a:cs typeface="Aptos"/>
              </a:rPr>
              <a:t>real production loan data, individual creditworthiness decisions, automated downstream actions, unofficial identity assets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70D9C8-92CC-493B-B438-C3D381CE62A0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10439400" cy="6286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01ECB7-B890-4B92-B12F-4EB04CC14CBA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76200" cy="628650"/>
          </a:xfrm>
          <a:prstGeom prst="rect">
            <a:avLst/>
          </a:prstGeom>
          <a:solidFill>
            <a:srgbClr val="C69232"/>
          </a:solidFill>
          <a:ln w="0">
            <a:solidFill>
              <a:srgbClr val="C69232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ACDDD4-DC13-441B-9F02-17008CE53590}"/>
              </a:ext>
            </a:extLst>
          </p:cNvPr>
          <p:cNvSpPr>
            <a:spLocks noGrp="1"/>
          </p:cNvSpPr>
          <p:nvPr/>
        </p:nvSpPr>
        <p:spPr>
          <a:xfrm>
            <a:off x="1200150" y="5105400"/>
            <a:ext cx="1314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692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69232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721427-D814-4D5E-9383-6649E36EFF81}"/>
              </a:ext>
            </a:extLst>
          </p:cNvPr>
          <p:cNvSpPr>
            <a:spLocks noGrp="1"/>
          </p:cNvSpPr>
          <p:nvPr/>
        </p:nvSpPr>
        <p:spPr>
          <a:xfrm>
            <a:off x="2895600" y="5067300"/>
            <a:ext cx="7639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3EC"/>
                </a:solidFill>
                <a:latin typeface="Aptos"/>
                <a:ea typeface="Aptos"/>
                <a:cs typeface="Aptos"/>
              </a:rPr>
              <a:t>schema as contract, TDD/evals, source-cited rules, fail-gracefully behavior, 1st/2nd/3rd-line ownership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038E08-4554-40D8-B1EF-D905A0FB7239}"/>
              </a:ext>
            </a:extLst>
          </p:cNvPr>
          <p:cNvSpPr>
            <a:spLocks noGrp="1"/>
          </p:cNvSpPr>
          <p:nvPr/>
        </p:nvSpPr>
        <p:spPr>
          <a:xfrm>
            <a:off x="1466850" y="6019800"/>
            <a:ext cx="9258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7D2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D2C7"/>
                </a:solidFill>
                <a:latin typeface="Aptos"/>
                <a:ea typeface="Aptos"/>
                <a:cs typeface="Aptos"/>
              </a:rPr>
              <a:t>Best next demo milestone: implement schema -&gt; generator -&gt; validation -&gt; quick scan, then let the governance dashboard record the run.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1B99B0-6171-49B4-B3AF-92896D9FD01B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repository docs and current code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9CC574-8ED0-4E22-860A-8EC7C9E00FCA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13160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1350</Words>
  <Application>Microsoft Office PowerPoint</Application>
  <DocSecurity>0</DocSecurity>
  <PresentationFormat>Widescreen</PresentationFormat>
  <Paragraphs>253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Dimos Gougousis</cp:lastModifiedBy>
  <cp:revision>1</cp:revision>
  <dcterms:created xsi:type="dcterms:W3CDTF">2026-06-08T15:49:08Z</dcterms:created>
  <dcterms:modified xsi:type="dcterms:W3CDTF">2026-06-08T15:52:42Z</dcterms:modified>
</cp:coreProperties>
</file>