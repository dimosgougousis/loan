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e0b6778cd14076" /><Relationship Type="http://schemas.openxmlformats.org/officeDocument/2006/relationships/extended-properties" Target="/docProps/app.xml" Id="Re9217d5e269c4e3d" /><Relationship Type="http://schemas.openxmlformats.org/officeDocument/2006/relationships/officeDocument" Target="/ppt/presentation.xml" Id="R33480b2e2a2f4b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da59b04f454d04"/>
  </p:sldMasterIdLst>
  <p:notesMasterIdLst>
    <p:notesMasterId xmlns:r="http://schemas.openxmlformats.org/officeDocument/2006/relationships" r:id="Rdc6ea82b2d6348f9"/>
  </p:notesMasterIdLst>
  <p:sldIdLst>
    <p:sldId xmlns:r="http://schemas.openxmlformats.org/officeDocument/2006/relationships" id="256" r:id="R1e7186613f604e2d"/>
    <p:sldId xmlns:r="http://schemas.openxmlformats.org/officeDocument/2006/relationships" id="257" r:id="R4952e7818e664093"/>
    <p:sldId xmlns:r="http://schemas.openxmlformats.org/officeDocument/2006/relationships" id="258" r:id="R626be35fdfb24547"/>
    <p:sldId xmlns:r="http://schemas.openxmlformats.org/officeDocument/2006/relationships" id="259" r:id="R791aa888cfd345e4"/>
    <p:sldId xmlns:r="http://schemas.openxmlformats.org/officeDocument/2006/relationships" id="260" r:id="R46bef90a4e1b4ba3"/>
    <p:sldId xmlns:r="http://schemas.openxmlformats.org/officeDocument/2006/relationships" id="261" r:id="R8e8cace063704c8d"/>
    <p:sldId xmlns:r="http://schemas.openxmlformats.org/officeDocument/2006/relationships" id="262" r:id="R0924700ce7074002"/>
    <p:sldId xmlns:r="http://schemas.openxmlformats.org/officeDocument/2006/relationships" id="263" r:id="R677422be870d47ba"/>
    <p:sldId xmlns:r="http://schemas.openxmlformats.org/officeDocument/2006/relationships" id="264" r:id="Rcae774f5df9e4b4b"/>
    <p:sldId xmlns:r="http://schemas.openxmlformats.org/officeDocument/2006/relationships" id="265" r:id="R9147f5dce0844f8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ed3e2242934fd8" /><Relationship Type="http://schemas.openxmlformats.org/officeDocument/2006/relationships/slideMaster" Target="/ppt/slideMasters/slideMaster1.xml" Id="Rfada59b04f454d04" /><Relationship Type="http://schemas.openxmlformats.org/officeDocument/2006/relationships/notesMaster" Target="/ppt/notesMasters/notesMaster1.xml" Id="Rdc6ea82b2d6348f9" /><Relationship Type="http://schemas.openxmlformats.org/officeDocument/2006/relationships/presProps" Target="/ppt/presProps.xml" Id="Rec0b20591c464ca2" /><Relationship Type="http://schemas.openxmlformats.org/officeDocument/2006/relationships/viewProps" Target="/ppt/viewProps.xml" Id="Rd3c4e949895042f3" /><Relationship Type="http://schemas.openxmlformats.org/officeDocument/2006/relationships/tableStyles" Target="/ppt/tableStyles.xml" Id="Rd4a5de429b3c4f7e" /><Relationship Type="http://schemas.openxmlformats.org/officeDocument/2006/relationships/slide" Target="/ppt/slides/slide1.xml" Id="R1e7186613f604e2d" /><Relationship Type="http://schemas.openxmlformats.org/officeDocument/2006/relationships/slide" Target="/ppt/slides/slide2.xml" Id="R4952e7818e664093" /><Relationship Type="http://schemas.openxmlformats.org/officeDocument/2006/relationships/slide" Target="/ppt/slides/slide3.xml" Id="R626be35fdfb24547" /><Relationship Type="http://schemas.openxmlformats.org/officeDocument/2006/relationships/slide" Target="/ppt/slides/slide4.xml" Id="R791aa888cfd345e4" /><Relationship Type="http://schemas.openxmlformats.org/officeDocument/2006/relationships/slide" Target="/ppt/slides/slide5.xml" Id="R46bef90a4e1b4ba3" /><Relationship Type="http://schemas.openxmlformats.org/officeDocument/2006/relationships/slide" Target="/ppt/slides/slide6.xml" Id="R8e8cace063704c8d" /><Relationship Type="http://schemas.openxmlformats.org/officeDocument/2006/relationships/slide" Target="/ppt/slides/slide7.xml" Id="R0924700ce7074002" /><Relationship Type="http://schemas.openxmlformats.org/officeDocument/2006/relationships/slide" Target="/ppt/slides/slide8.xml" Id="R677422be870d47ba" /><Relationship Type="http://schemas.openxmlformats.org/officeDocument/2006/relationships/slide" Target="/ppt/slides/slide9.xml" Id="Rcae774f5df9e4b4b" /><Relationship Type="http://schemas.openxmlformats.org/officeDocument/2006/relationships/slide" Target="/ppt/slides/slide10.xml" Id="R9147f5dce0844f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deb274bdef41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8ba0899a7a4efa" /><Relationship Type="http://schemas.openxmlformats.org/officeDocument/2006/relationships/notesMaster" Target="/ppt/notesMasters/notesMaster1.xml" Id="R3d7238c7ca694b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36c30a094f4afa" /><Relationship Type="http://schemas.openxmlformats.org/officeDocument/2006/relationships/notesMaster" Target="/ppt/notesMasters/notesMaster1.xml" Id="Rad9041776c6d40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e37545601e42b0" /><Relationship Type="http://schemas.openxmlformats.org/officeDocument/2006/relationships/notesMaster" Target="/ppt/notesMasters/notesMaster1.xml" Id="R2e8cbcce689e41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5ee78f429f4559" /><Relationship Type="http://schemas.openxmlformats.org/officeDocument/2006/relationships/notesMaster" Target="/ppt/notesMasters/notesMaster1.xml" Id="R81e947ea94864b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8dd129962b4894" /><Relationship Type="http://schemas.openxmlformats.org/officeDocument/2006/relationships/notesMaster" Target="/ppt/notesMasters/notesMaster1.xml" Id="R2ab2a488604c47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8c43859c374463" /><Relationship Type="http://schemas.openxmlformats.org/officeDocument/2006/relationships/notesMaster" Target="/ppt/notesMasters/notesMaster1.xml" Id="Re7ce528ee42d40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3229d25add4683" /><Relationship Type="http://schemas.openxmlformats.org/officeDocument/2006/relationships/notesMaster" Target="/ppt/notesMasters/notesMaster1.xml" Id="Refb2030fcad041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4e6af12cf04ba4" /><Relationship Type="http://schemas.openxmlformats.org/officeDocument/2006/relationships/notesMaster" Target="/ppt/notesMasters/notesMaster1.xml" Id="R8b5a4c455c3d4d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7bdc8fa2264de3" /><Relationship Type="http://schemas.openxmlformats.org/officeDocument/2006/relationships/notesMaster" Target="/ppt/notesMasters/notesMaster1.xml" Id="R86bdd7615a7842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6158bc2633422c" /><Relationship Type="http://schemas.openxmlformats.org/officeDocument/2006/relationships/notesMaster" Target="/ppt/notesMasters/notesMaster1.xml" Id="R943a616cfcf040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bd2c204c7145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6b03324110444b" /><Relationship Type="http://schemas.openxmlformats.org/officeDocument/2006/relationships/slideLayout" Target="/ppt/slideLayouts/slideLayout1.xml" Id="R2f40f9e2e24e42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40f9e2e24e42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695e8692a4b1c" /><Relationship Type="http://schemas.openxmlformats.org/officeDocument/2006/relationships/notesSlide" Target="/ppt/notesSlides/notesSlide1.xml" Id="Redeb361677f34b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11b5ca3444a60" /><Relationship Type="http://schemas.openxmlformats.org/officeDocument/2006/relationships/notesSlide" Target="/ppt/notesSlides/notesSlide2.xml" Id="R72fb4d95e07a47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320ca9a13407a" /><Relationship Type="http://schemas.openxmlformats.org/officeDocument/2006/relationships/notesSlide" Target="/ppt/notesSlides/notesSlide3.xml" Id="R116c0b548eb94f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869708eb742ed" /><Relationship Type="http://schemas.openxmlformats.org/officeDocument/2006/relationships/notesSlide" Target="/ppt/notesSlides/notesSlide4.xml" Id="Rf106a120271944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c71d7bf194dd8" /><Relationship Type="http://schemas.openxmlformats.org/officeDocument/2006/relationships/notesSlide" Target="/ppt/notesSlides/notesSlide5.xml" Id="R6040758ba46d40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252458c534052" /><Relationship Type="http://schemas.openxmlformats.org/officeDocument/2006/relationships/notesSlide" Target="/ppt/notesSlides/notesSlide6.xml" Id="R4289eac432744d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7f34c55c34a25" /><Relationship Type="http://schemas.openxmlformats.org/officeDocument/2006/relationships/notesSlide" Target="/ppt/notesSlides/notesSlide7.xml" Id="Ra807cb009c9244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825d12a454c38" /><Relationship Type="http://schemas.openxmlformats.org/officeDocument/2006/relationships/notesSlide" Target="/ppt/notesSlides/notesSlide8.xml" Id="R6ab47b7b641640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9b7cd03e34b2e" /><Relationship Type="http://schemas.openxmlformats.org/officeDocument/2006/relationships/notesSlide" Target="/ppt/notesSlides/notesSlide9.xml" Id="R15da20bebbc54f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5d4eaee594f0f" /><Relationship Type="http://schemas.openxmlformats.org/officeDocument/2006/relationships/notesSlide" Target="/ppt/notesSlides/notesSlide10.xml" Id="Rd780e4930cf4497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67D545-4EF3-465B-8034-3B1E1F89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023E0D98-75C9-4C1D-B9C0-B98E4A44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2"/>
          </a:solidFill>
          <a:ln xmlns:a="http://schemas.openxmlformats.org/drawingml/2006/main" w="0">
            <a:solidFill>
              <a:srgbClr val="C69232"/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8DE7B1E0-E8AA-4AF1-B5D2-7441CB1F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48089-B33C-4D6F-BF4B-EC1334D3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382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6F3E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6F3EC"/>
                </a:solidFill>
                <a:latin typeface="Aptos Display"/>
                <a:ea typeface="Aptos Display"/>
                <a:cs typeface="Aptos Display"/>
              </a:rPr>
              <a:t>The project scope is a governed Dutch mortgage loan-tape platform.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74E76-50E0-4054-8D01-FB0E3815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2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2C7"/>
                </a:solidFill>
                <a:latin typeface="Aptos"/>
                <a:ea typeface="Aptos"/>
                <a:cs typeface="Aptos"/>
              </a:rPr>
              <a:t>It combines synthetic portfolio data, NL-specific analytics, validation, stress testing, anomaly detection, and AI-assisted build governance.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98685-CC1B-4F9D-8275-4AAA30C9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819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97EDB-E4FF-4D2B-9891-9C1B1B01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C3A"/>
          </a:solidFill>
          <a:ln xmlns:a="http://schemas.openxmlformats.org/drawingml/2006/main" w="0">
            <a:solidFill>
              <a:srgbClr val="B65C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9D630-ABEA-44B2-BDF7-E2473F76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765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Data contract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41412-B8C8-402A-9A83-2416BE2F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76575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D2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D2C7"/>
                </a:solidFill>
                <a:latin typeface="Aptos"/>
                <a:ea typeface="Aptos"/>
                <a:cs typeface="Aptos"/>
              </a:rPr>
              <a:t>Pydantic schema, deterministic synthetic tape, reference tables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AB1CC-649F-49CC-996B-F290F533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819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3F2258-0ABF-4859-8380-AD923BE2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2C7A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0ABFF5-2418-452F-B9EC-04C42105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0522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Risk analytics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D6E4E-0E4D-48C2-8BBC-997E3F2C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05225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D2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D2C7"/>
                </a:solidFill>
                <a:latin typeface="Aptos"/>
                <a:ea typeface="Aptos"/>
                <a:cs typeface="Aptos"/>
              </a:rPr>
              <a:t>Quick scan, portfolio cohorts, IFRS 9 staging, ECL signals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7B88F-36FF-49FE-B4CE-FEDBBF3E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819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B4A91-F9FB-4371-96AE-B4DB802B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2"/>
          </a:solidFill>
          <a:ln xmlns:a="http://schemas.openxmlformats.org/drawingml/2006/main" w="0">
            <a:solidFill>
              <a:srgbClr val="C692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7456E-E1EC-423C-B2EF-A56A5867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38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Review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2D9F6C-18D7-4208-84EB-AA109EAE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33875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D2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D2C7"/>
                </a:solidFill>
                <a:latin typeface="Aptos"/>
                <a:ea typeface="Aptos"/>
                <a:cs typeface="Aptos"/>
              </a:rPr>
              <a:t>NHG, HRA, Nibud LTI, AnaCredit, BCBS 239, stress sanity bands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079AAB-8EB8-4D93-AACC-05903464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819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1943D-5D67-42A8-A839-C1F2D4EC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A9E"/>
          </a:solidFill>
          <a:ln xmlns:a="http://schemas.openxmlformats.org/drawingml/2006/main" w="0">
            <a:solidFill>
              <a:srgbClr val="8C6A9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D2D313-3A42-4833-A1E7-748B7C55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6252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5F5318-5ED3-4FD2-8236-E09D1579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62525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D2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D2C7"/>
                </a:solidFill>
                <a:latin typeface="Aptos"/>
                <a:ea typeface="Aptos"/>
                <a:cs typeface="Aptos"/>
              </a:rPr>
              <a:t>3LoD sign-off, eval gates, AI commit controls, fail-gracefully playbook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3AB4CF-8D48-4FF7-A144-76265C5E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52750"/>
            <a:ext cx="21717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F6F3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810AF6-25AE-4D0E-8E6F-EE6A4408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8135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Current repo status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F29523-3326-4D6B-B813-E07FA414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623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Day-0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A7758A-BF1F-4DB3-901D-8E9DC90A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243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working scaffold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F6AAA0-D8A8-4947-B2E6-F7915CBE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815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9525">
            <a:solidFill>
              <a:srgbClr val="577A4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EDF0DD-8EB5-40F1-B2C7-0C7695BF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29125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77A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77A4F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D5FE38-D119-4AB4-913C-62CE4263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625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2B8"/>
          </a:solidFill>
          <a:ln xmlns:a="http://schemas.openxmlformats.org/drawingml/2006/main" w="9525">
            <a:solidFill>
              <a:srgbClr val="C6923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F0F6EF-9848-42EB-8C15-0F68E4B8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10125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Planned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C9D66E-1069-4649-89B6-668B62A9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14350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Target docs; scaffold code.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514550-1A40-4D15-9396-86E06897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README, app/streamlit_app.py, src/loan_tape/schema.py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B9A997-0821-42D1-9B27-E72A9A73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95025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4261B1-C846-487C-B111-1E717E9B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F6F3EC"/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F27FA1F1-2845-424D-89C6-38C424C5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C3A"/>
          </a:solidFill>
          <a:ln xmlns:a="http://schemas.openxmlformats.org/drawingml/2006/main" w="0">
            <a:solidFill>
              <a:srgbClr val="B65C3A"/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A2137EED-45EB-4E5B-A02D-CEFF7C89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REQUIREMENTS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2C0FB-0574-48EB-A3E4-BB5E0451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Requirements are anchored in Dutch mortgage practice and reviewability.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D7B47-B79B-462B-B2DE-F5F600B8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scope is defined by what a credit-risk team can analyze and what a 2nd-line reviewer can clear.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8A7E0-3B7A-467E-A1BF-81F0DFCA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21145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3FC33-A60B-4EA3-95EC-67E753DD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C3A"/>
          </a:solidFill>
          <a:ln xmlns:a="http://schemas.openxmlformats.org/drawingml/2006/main" w="0">
            <a:solidFill>
              <a:srgbClr val="B65C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69738-D4F4-4203-AF8F-BAD45ADA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Data contract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E349A-3D37-4E1D-99EA-30F91C0C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771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65C3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B65C3A"/>
                </a:solidFill>
                <a:latin typeface="Aptos Display"/>
                <a:ea typeface="Aptos Display"/>
                <a:cs typeface="Aptos Display"/>
              </a:rPr>
              <a:t>Dutch mortgage fields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D75FC-7A00-4046-96CB-378529B5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771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Pydantic v2 schema</a:t>
            </a:r>
          </a:p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reference tables</a:t>
            </a:r>
          </a:p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synthetic tape hash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5A23D-7CB3-49AE-919D-3A3237F8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95500"/>
            <a:ext cx="21145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8763AA-5F26-474A-899E-D3CB9446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9550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2C7A7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36F7B-8A85-449C-93F9-8D14C32B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6220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Risk 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24B6E-A45B-46DD-ABF7-A5510622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43200"/>
            <a:ext cx="1771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7A7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C7A7B"/>
                </a:solidFill>
                <a:latin typeface="Aptos Display"/>
                <a:ea typeface="Aptos Display"/>
                <a:cs typeface="Aptos Display"/>
              </a:rPr>
              <a:t>Portfolio risk readout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AE082-221A-4164-BEE3-3165FF96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48050"/>
            <a:ext cx="1771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ECL inputs</a:t>
            </a:r>
          </a:p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IFRS 9 stage mix</a:t>
            </a:r>
          </a:p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vintage and LTV views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B21245-14AF-4753-8036-2AB6BA2A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95500"/>
            <a:ext cx="21145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3AAAFF-2A49-4C93-A3D4-C7EE0DBE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9550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2"/>
          </a:solidFill>
          <a:ln xmlns:a="http://schemas.openxmlformats.org/drawingml/2006/main" w="0">
            <a:solidFill>
              <a:srgbClr val="C6923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FEFBE9-F7DC-4C04-9EB4-61D6F746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6220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Checks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371DF-1A47-4603-9A4C-C8650872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43200"/>
            <a:ext cx="1771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6923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69232"/>
                </a:solidFill>
                <a:latin typeface="Aptos Display"/>
                <a:ea typeface="Aptos Display"/>
                <a:cs typeface="Aptos Display"/>
              </a:rPr>
              <a:t>Defensible findings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F2336A-948A-4646-8064-D5C3B0E6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48050"/>
            <a:ext cx="1771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NHG cap</a:t>
            </a:r>
          </a:p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HRA eligibility</a:t>
            </a:r>
          </a:p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Nibud LTI</a:t>
            </a:r>
          </a:p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AnaCredit / BCBS 239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950741-B566-40AD-9023-F6054187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95500"/>
            <a:ext cx="21145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6334EE-9577-40F9-86F5-D10A843B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9550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A9E"/>
          </a:solidFill>
          <a:ln xmlns:a="http://schemas.openxmlformats.org/drawingml/2006/main" w="0">
            <a:solidFill>
              <a:srgbClr val="8C6A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5879B2-09D8-4ADD-9BEF-6349085B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54604A-F705-4F7E-B59A-AC49C30D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43200"/>
            <a:ext cx="1771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C6A9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8C6A9E"/>
                </a:solidFill>
                <a:latin typeface="Aptos Display"/>
                <a:ea typeface="Aptos Display"/>
                <a:cs typeface="Aptos Display"/>
              </a:rPr>
              <a:t>Human sign-off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8E6CD7-E92B-455C-AB44-24E78968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48050"/>
            <a:ext cx="1771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3LoD ownership</a:t>
            </a:r>
          </a:p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2nd-line gates</a:t>
            </a:r>
          </a:p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model inventory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CECC9D-ED05-4C4A-A546-F64A1FD2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95500"/>
            <a:ext cx="21145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C55290-DC89-4871-8D05-943B45CC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9550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A4F"/>
          </a:solidFill>
          <a:ln xmlns:a="http://schemas.openxmlformats.org/drawingml/2006/main" w="0">
            <a:solidFill>
              <a:srgbClr val="577A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8AD75D-B32B-4101-9B31-5FFA9099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6220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Build harness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BD0817-F0F5-44FA-AD72-4D7ADCE1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43200"/>
            <a:ext cx="1771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77A4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577A4F"/>
                </a:solidFill>
                <a:latin typeface="Aptos Display"/>
                <a:ea typeface="Aptos Display"/>
                <a:cs typeface="Aptos Display"/>
              </a:rPr>
              <a:t>AI-safe delivery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87A709-D8AB-45CE-836D-B7F65E18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48050"/>
            <a:ext cx="1771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TDD guard</a:t>
            </a:r>
          </a:p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eval rubrics</a:t>
            </a:r>
          </a:p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secrets and mass-change blocks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5D206B-C5E4-43B8-A649-7B4CF5DF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24500"/>
            <a:ext cx="10172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C"/>
          </a:solidFill>
          <a:ln xmlns:a="http://schemas.openxmlformats.org/drawingml/2006/main" w="0">
            <a:solidFill>
              <a:srgbClr val="EEE9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BE2E36-CA25-4927-9B91-CA1AB85A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57850"/>
            <a:ext cx="969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Scope rule: every quantitative requirement needs a source, a test/eval, and a governance owner before it becomes production behavior.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92A2A6-4F01-400A-9F7C-8351D867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README, docs/domain-primer.md, docs/governance/*.md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F67E63-EA9E-4CE2-BABC-4823925E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2025100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DCDD35-4AD2-45C8-B562-9F5DFCF2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F6F3EC"/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4795DF23-1099-4028-92B1-20CAD0D5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2C7A7B"/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984E1E50-0C64-4AA8-8670-6EF0DC7D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EC7BC-7B18-4439-8E80-03E85244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architecture keeps schema, analytics, and governance state behind clear boundaries.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DC888-45EC-4637-AADA-73FA9D93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product system is deliberately simple: one schema contract, one library layer, thin UI pages, and auditable 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46747-3D80-4812-AFA2-17C2BEB0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19050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F884B-01CE-4EE6-84BD-CCBB7239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F7A45-E3F5-4060-92C1-5B7FF9D5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1409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8AAEB-FE5C-4383-AFB6-9D10CE6B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C3A"/>
          </a:solidFill>
          <a:ln xmlns:a="http://schemas.openxmlformats.org/drawingml/2006/main" w="0">
            <a:solidFill>
              <a:srgbClr val="B65C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575D0-746C-4A11-A91F-2529AA72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Loan tape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DDA07-39AC-4B66-8F47-433F836D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8475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CSV / Parquet upload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8757D-7C37-40CE-B820-4528C915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409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69B79-9B8A-49F3-BACF-2C1FBA7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2"/>
          </a:solidFill>
          <a:ln xmlns:a="http://schemas.openxmlformats.org/drawingml/2006/main" w="0">
            <a:solidFill>
              <a:srgbClr val="C692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8ADB3-B272-45C8-9469-CC9ACA9F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95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Reference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4478A-1BAA-499C-BED0-36BC281C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7175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NHG, HRA, Nibud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E503C5-763D-4813-9B55-91210978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43100"/>
            <a:ext cx="32766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C3E20F-5B94-4FB0-A855-45B72303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076450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src/loan_tape library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B532F1-EEF6-433F-9F57-767B2A5E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95550"/>
            <a:ext cx="1257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9F0C49-F713-45BD-96D1-645B8165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955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2C7A7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F7E943-6DDF-4209-8887-D0F6303E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193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schema.py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84209D-4EF8-4D0C-AD76-2AD48347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6702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single source of truth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115C18-7B32-406A-A32B-2A7F75BF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95550"/>
            <a:ext cx="1257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54B51C-F692-4AB5-87C2-523756E3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955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2"/>
          </a:solidFill>
          <a:ln xmlns:a="http://schemas.openxmlformats.org/drawingml/2006/main" w="0">
            <a:solidFill>
              <a:srgbClr val="C6923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F16D05-1EE9-472E-95E6-D281AECF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193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validate/*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614CAE-5249-4D22-9BB4-7040FEB4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6702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rules + AnaCredit report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99EA15-DC14-456A-B738-22351C5D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43300"/>
            <a:ext cx="1257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4ADEED-EB5B-4C1D-A196-314FAA65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4330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C3A"/>
          </a:solidFill>
          <a:ln xmlns:a="http://schemas.openxmlformats.org/drawingml/2006/main" w="0">
            <a:solidFill>
              <a:srgbClr val="B65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2CCF98-C712-4BC6-9A63-55FA1DB4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671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analytics/*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2B1947-6B5A-4091-B50D-28E723EA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1477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quick scan, portfolio, stress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95692E-33EB-48E4-9129-FAEC74C4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43300"/>
            <a:ext cx="1257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404C1E-6140-4D10-9DE1-DFBF0327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4330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A9E"/>
          </a:solidFill>
          <a:ln xmlns:a="http://schemas.openxmlformats.org/drawingml/2006/main" w="0">
            <a:solidFill>
              <a:srgbClr val="8C6A9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482AD4-3023-47BB-85A6-503137A5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671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ecl/*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08A797-B588-4094-9396-87ED0463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1477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IFRS 9, SICR, ECL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946CDE-29F7-4C5A-9756-C7850A78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52650"/>
            <a:ext cx="21526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233048-BE31-4B64-8E51-BCB23448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2860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77A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77A4F"/>
                </a:solidFill>
                <a:latin typeface="Aptos"/>
                <a:ea typeface="Aptos"/>
                <a:cs typeface="Aptos"/>
              </a:rPr>
              <a:t>App layer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901EB6-D5AD-4B99-A289-D26CE9DE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43200"/>
            <a:ext cx="1581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BDF485-B64C-4F7E-8578-01696B5E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4320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A4F"/>
          </a:solidFill>
          <a:ln xmlns:a="http://schemas.openxmlformats.org/drawingml/2006/main" w="0">
            <a:solidFill>
              <a:srgbClr val="577A4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A183B1-BDE6-46AF-9558-87221727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67025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Streamlit pages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515AA5-EFA0-4C76-9BDE-ABA5E98B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1467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six dashboard surfaces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35269A-47A6-4F68-9CDF-6C5329AF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71900"/>
            <a:ext cx="1581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FC5BE2-5615-4211-BD0A-CF916FD4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7190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C3A"/>
          </a:solidFill>
          <a:ln xmlns:a="http://schemas.openxmlformats.org/drawingml/2006/main" w="0">
            <a:solidFill>
              <a:srgbClr val="B65C3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6A5773-6E12-4D62-A37D-3C36466C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95725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About / Limits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BE5227-0D4F-4616-9D10-D1CF9F57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4337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EU AI Act transparency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F2174E-CB2F-4345-B624-1DD8D798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43100"/>
            <a:ext cx="20002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CAED83-5CAA-4CFB-993E-793D7434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076450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Audit state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5C23ED-ACCF-40B2-BA7A-622C24B2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52700"/>
            <a:ext cx="1447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2AF192-392A-4E4C-8AF6-04489558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5270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2"/>
          </a:solidFill>
          <a:ln xmlns:a="http://schemas.openxmlformats.org/drawingml/2006/main" w="0">
            <a:solidFill>
              <a:srgbClr val="C6923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F2F91F-77B3-4350-A98D-0C8AA62C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765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DuckDB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3122A9-E7DF-4BC5-A64F-8DE821F8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2417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pipeline + feature runs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EDE08A-EA7F-4639-BCC5-D1A65B7A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00450"/>
            <a:ext cx="1447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2501B3-5F1C-4D20-91F7-D8F223D3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004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A9E"/>
          </a:solidFill>
          <a:ln xmlns:a="http://schemas.openxmlformats.org/drawingml/2006/main" w="0">
            <a:solidFill>
              <a:srgbClr val="8C6A9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5ED05B-4F1F-41C8-823D-4AC0382F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7242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evals/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132FB3F-93B7-4EBC-BADD-779114CC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719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rubrics + result history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2E4502-4F04-45BD-B527-E485AF17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52825"/>
            <a:ext cx="600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4B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207A188-17BB-43F6-9E90-B70D7479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552825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4B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FB43FF-4FC6-4A6E-963E-EDF376FA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55282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4B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DA0DE31-7B13-48A7-A515-E550ED95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114925"/>
            <a:ext cx="6029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2"/>
          </a:solidFill>
          <a:ln xmlns:a="http://schemas.openxmlformats.org/drawingml/2006/main" w="0">
            <a:solidFill>
              <a:srgbClr val="C6923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74551E1-5A75-4360-8C49-AADEF2F8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2197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dashed in architecture docs: stage transitions, hashes, eval pass/fail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EA811C8-3CA1-4AE3-86AA-8B0063F4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38800"/>
            <a:ext cx="853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1848D54-AA72-42E1-A81A-763017F3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5310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Trust boundary: no raw stack traces, no raw DuckDB outside io/, no AI-authored regulated path without review.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2366471-4B35-453E-A1A4-AB2BA573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docs/architecture.md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3434847-751E-4BB6-AE7A-FC16C30A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115083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DB1E10-AE1C-4F1B-8569-7DDD297C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F6F3EC"/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16A93BB0-AFF6-49D8-A803-BC5D27EC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C3A"/>
          </a:solidFill>
          <a:ln xmlns:a="http://schemas.openxmlformats.org/drawingml/2006/main" w="0">
            <a:solidFill>
              <a:srgbClr val="B65C3A"/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10B4A047-2C01-498B-A0A7-012F8DC3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B36DB-E832-4AC9-B029-36EE6F8F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analyst workflow advances only when each stage leaves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B9E2A-6037-4058-BC4F-41B35BCC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Named failure modes halt or downgrade a run; publish is never the default outcome of a broken pipeline.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8CFB9-CF4D-47AA-BE17-E824C63A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988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D6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F480B-85F4-4556-B8AD-4583D406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C3A"/>
          </a:solidFill>
          <a:ln xmlns:a="http://schemas.openxmlformats.org/drawingml/2006/main" w="0">
            <a:solidFill>
              <a:srgbClr val="B65C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92EF2-73B0-456F-B76C-9D0363A9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F56DA-342F-4AC7-A585-BD698067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19450"/>
            <a:ext cx="1085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B957A-0701-4FCB-92B7-C1614CD5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analyst provides tape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ABC7C-8FB2-411D-8A22-8E8BBA5D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95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C3A"/>
          </a:solidFill>
          <a:ln xmlns:a="http://schemas.openxmlformats.org/drawingml/2006/main" w="0">
            <a:solidFill>
              <a:srgbClr val="B65C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4F064-009B-489D-8BFF-56E1BA01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098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FE256-16A8-4E47-9A95-D85FC1B4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19450"/>
            <a:ext cx="1085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Ingest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0BB66-C1B0-43A5-A5A1-56231EE5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4805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schema validates boundary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DD9525-D716-4475-AE39-576FB097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95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2C7A7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548F6B-C455-471F-8981-EDE085A7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098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CF0E99-5EC9-4C0C-8D17-CF52ED4E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19450"/>
            <a:ext cx="1085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1CE1C0-D39B-4E70-B37D-6DE0BAA3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44805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cross-field rules run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B04718-7922-43DA-A164-3A32938B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95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2C7A7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038983-D314-47EC-8764-45EB8A75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97331C-9329-4DD5-AB19-438D2CAA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19450"/>
            <a:ext cx="1085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888CC4-91A2-4D4D-8EA7-2EEE491D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4805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KPIs and cohorts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275643-27BF-42C9-B271-4A090E54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95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2C7A7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7C89D4-E068-4FFB-9A0D-EADFFFE0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98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57BED7-393B-4785-99A9-CE8170D0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19450"/>
            <a:ext cx="1085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Stress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CB3E47-0268-44AF-8CE6-0CFB58F6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4805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NL scenarios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62CDB0-118F-40A4-9FCD-366CDE52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95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2"/>
          </a:solidFill>
          <a:ln xmlns:a="http://schemas.openxmlformats.org/drawingml/2006/main" w="0">
            <a:solidFill>
              <a:srgbClr val="C6923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0083EB-7683-421E-9FAA-B000B732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DEFD56-EE77-403D-9180-C2D6CC2A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19450"/>
            <a:ext cx="1085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81E322-68E2-4322-B921-F4F1E6B2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4805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findings and warnings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6E9E7D-61D4-4CB4-B19E-D0E4709E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95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2"/>
          </a:solidFill>
          <a:ln xmlns:a="http://schemas.openxmlformats.org/drawingml/2006/main" w="0">
            <a:solidFill>
              <a:srgbClr val="C6923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8A91D5-8234-4BC1-82E8-C06E6F84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098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6B2BE3-DD58-4BD2-BABD-ACFADEBE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19450"/>
            <a:ext cx="1085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Sign off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E5706A-1E00-4127-918C-CEE07F32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4805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manual 1st/2nd line gate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57FDBE-BAAB-4ED1-9749-10F1B6B5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495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A4F"/>
          </a:solidFill>
          <a:ln xmlns:a="http://schemas.openxmlformats.org/drawingml/2006/main" w="0">
            <a:solidFill>
              <a:srgbClr val="577A4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D9F872-0885-4E48-9FA6-9D51FBA9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6098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871242-2D0C-49A9-9CF2-8A9A6D6F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085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Publish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9E5E24-8B98-455A-BD0A-672FBE73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4805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hash and audit record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1263EC-D410-4EEC-9202-D483A155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2209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3B3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019A8E-D421-4166-B82D-9962ECA7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E3B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3B31"/>
                </a:solidFill>
                <a:latin typeface="Aptos"/>
                <a:ea typeface="Aptos"/>
                <a:cs typeface="Aptos"/>
              </a:rPr>
              <a:t>Schema drift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7C42C6-0DD8-432C-B14E-F0756E30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FAILED, first 10 violations captured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19C02F-0879-4A19-9DB8-21F978B2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05300"/>
            <a:ext cx="2209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923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F6FE6A-22E5-417D-992C-3A7C276C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386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&gt; 1% critical rule failures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7F1CA1-2172-49D5-9199-6BE071BD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8630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BLOCKED, override comment required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759EB9-7E31-4372-8C45-6E8EE759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05300"/>
            <a:ext cx="2209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3B3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84FD68-C50D-469F-9C9F-3D293336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E3B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3B31"/>
                </a:solidFill>
                <a:latin typeface="Aptos"/>
                <a:ea typeface="Aptos"/>
                <a:cs typeface="Aptos"/>
              </a:rPr>
              <a:t>NaN / Inf KPI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7AF8A5A-95D4-4598-BB14-0070FE0C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8630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FAILED, no silent zero fallback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C13E72D-CC82-42FB-8F4C-DFE4AFEF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05300"/>
            <a:ext cx="2209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923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26A69D-D378-45BE-9E25-C1941A2A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386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2nd line absent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F24A01-6B61-4511-A2B9-1615690D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8630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BLOCKED and escalated, never auto-approved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1907B0-B7AD-447E-B381-4F967D36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626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8D81A4-7643-4DE2-8403-B96A18BA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95950"/>
            <a:ext cx="7277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Scope includes the operating workflow and its failure contract, not only the happy-path dashboard.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82639C-580C-4D0B-99AD-0C6CF96B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docs/architecture.md, docs/governance/fail-gracefully.md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74BE5BF-E8BB-4248-9A15-01626F77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004294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0D5A0B-2B67-420C-83F9-3ABC31A7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F6F3EC"/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171A3FA3-3F56-4359-8E89-9C78AEB2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2"/>
          </a:solidFill>
          <a:ln xmlns:a="http://schemas.openxmlformats.org/drawingml/2006/main" w="0">
            <a:solidFill>
              <a:srgbClr val="C69232"/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1FC17AFA-AB10-40E4-A307-D225A921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6340C-5546-403D-9F8B-795955BC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Validation checks turn Dutch mortgage rules into auditable findings.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00E7C-3E22-4B18-805F-88C6D3A1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validation report is scoped as a control surface: severity, regulation, owner, and reportability travel with each finding.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30331-1A63-4C78-855B-EEE6FEBC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Rule family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CF456-84BA-4ED6-8436-138CFA4B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574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What is checked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09894-53BC-4BF8-ACB8-D4C6A8B9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574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Anchor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A10E7-9756-4C43-834D-FA12BDE9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C6E3E-3083-4DF9-85F1-56D54D7A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2"/>
          </a:solidFill>
          <a:ln xmlns:a="http://schemas.openxmlformats.org/drawingml/2006/main" w="0">
            <a:solidFill>
              <a:srgbClr val="C692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7C553-597F-4004-89E2-0F67F328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NHG cap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C2B99-9A48-4BF2-8F87-AC8FE57A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7650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nhg_flag + principal &lt;= origination-year 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AAB7B-6673-40CE-B7BA-191578CA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NHG / WEW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F6B51-6667-4B09-A33D-528F21DC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148DD-5666-4898-B3E6-6960546D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C3A"/>
          </a:solidFill>
          <a:ln xmlns:a="http://schemas.openxmlformats.org/drawingml/2006/main" w="0">
            <a:solidFill>
              <a:srgbClr val="B65C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B79C90-A9D5-4298-A0DF-39CE8C1F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HRA eligibility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004F51-2D45-45BC-B7FA-DDB06D7E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051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post-2013 annuity or linear repayment 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B6CB1A-EF0D-4F84-8DD2-84D43E35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Dutch tax 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6C74BE-9912-48CD-B5A1-04602AB7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D910C5-0867-441D-AFA8-102E1CDE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2C7A7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921ED3-8ABC-4764-B413-719A1CAA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Affordability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9D9315-76DC-49C3-B7D2-7160303D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3380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original LTI within annual Nibud cap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78AD50-9B87-42D7-8D4D-4392DB91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33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Tijdelijke regeling + Nibud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EBA3AA-2DF2-4A09-8069-67250D51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406E6C-38C8-433C-B62D-D75C8FD1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A9E"/>
          </a:solidFill>
          <a:ln xmlns:a="http://schemas.openxmlformats.org/drawingml/2006/main" w="0">
            <a:solidFill>
              <a:srgbClr val="8C6A9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0EFBA7-B250-4AFD-B616-D91AFDCC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Collateral freshness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FCA92E-9740-4837-8C2C-14292E76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624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taxatie age and value consistency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C0F773-8B95-45D1-838B-989F5F93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C6A9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C6A9E"/>
                </a:solidFill>
                <a:latin typeface="Aptos"/>
                <a:ea typeface="Aptos"/>
                <a:cs typeface="Aptos"/>
              </a:rPr>
              <a:t>BCBS 239 timeliness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3ACBBD-EBCC-4B19-BCAE-6F40E43A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C7371D-AA84-4DA5-A9C1-B09FAA8C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A4F"/>
          </a:solidFill>
          <a:ln xmlns:a="http://schemas.openxmlformats.org/drawingml/2006/main" w="0">
            <a:solidFill>
              <a:srgbClr val="577A4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229173-5D93-4AE1-87FD-236E627D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AnaCredit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ADC35B-388D-41FA-B657-748216AD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9110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required ECB attributes populated and mapped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0F4B5F-4C1C-4F34-BB7E-00F9D4A0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91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77A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77A4F"/>
                </a:solidFill>
                <a:latin typeface="Aptos"/>
                <a:ea typeface="Aptos"/>
                <a:cs typeface="Aptos"/>
              </a:rPr>
              <a:t>ECB Reg 2016/867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0ABD00-9039-4B0F-AF47-6D0A3018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57850"/>
            <a:ext cx="2895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2B8"/>
          </a:solidFill>
          <a:ln xmlns:a="http://schemas.openxmlformats.org/drawingml/2006/main" w="9525">
            <a:solidFill>
              <a:srgbClr val="C6923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6CE7BF-3F11-455D-A328-A90C9CBF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81675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CRITICAL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562CB3-041D-4C0E-B837-A7185432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816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blocks publish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661B65-474E-45E6-9EFA-081EFFCE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657850"/>
            <a:ext cx="2895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3B2"/>
          </a:solidFill>
          <a:ln xmlns:a="http://schemas.openxmlformats.org/drawingml/2006/main" w="9525">
            <a:solidFill>
              <a:srgbClr val="B65C3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445672-AA89-4DEE-A82B-200E1C86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781675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WARNING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BE8BAC-6E0D-496C-B7A2-325AFC43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78167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advances with flag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C697A2-B1B4-4344-A10B-9F64149F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57850"/>
            <a:ext cx="2895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D5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341F68-A037-4665-A556-1A6D1DCF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781675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33B6A1-5B56-4156-91DC-1225EEF8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781675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audit evidence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FBDADD-85DC-4D26-86B9-3D3AE41D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docs/domain-primer.md, docs/regulation-map.md, evals/rubrics/validation_report.md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72F6CD-94B6-4FA8-921B-7DFECC5C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968647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B1A28B-4A4B-4E21-ABC8-EFF9603C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F6F3EC"/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7FF798C9-EE89-4093-BC9C-E81F57E4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2C7A7B"/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3F02894F-735C-4650-812C-B46A5B07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RISK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379FE-74F1-492F-B8D9-4118C7F4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Stress, SICR, and anomaly checks target both portfolio risk and model drift.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41C15-5BDE-428E-A963-B55E3FC9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platform scope includes sanity bands and fixtures because wrong signs, filters, and cohorts are high-risk failure modes.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7BAF5-7E12-4008-9E95-8001E51B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32575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5B8D4-3BF5-4FEF-B550-A2DE92AF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3257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C3A"/>
          </a:solidFill>
          <a:ln xmlns:a="http://schemas.openxmlformats.org/drawingml/2006/main" w="0">
            <a:solidFill>
              <a:srgbClr val="B65C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0AD04-D189-4E1D-9598-2FAB5FFC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Stress scenarios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030DD-F544-40C4-ABA7-87F816AF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NL adverse movement must reconcile.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D17D9-CC08-4B87-9562-212E8AE6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95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C3A"/>
          </a:solidFill>
          <a:ln xmlns:a="http://schemas.openxmlformats.org/drawingml/2006/main" w="0">
            <a:solidFill>
              <a:srgbClr val="B65C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7B4C6-68ED-4873-B5C9-641302EE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DNB house-price shock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350DC-F1B2-41FD-A1C6-9574DCA3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95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C3A"/>
          </a:solidFill>
          <a:ln xmlns:a="http://schemas.openxmlformats.org/drawingml/2006/main" w="0">
            <a:solidFill>
              <a:srgbClr val="B65C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3BFAC-2E2D-453A-992C-383332A8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HRA phase-out pressure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CF7AC-CE0D-46FE-B40C-85F1549C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95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C3A"/>
          </a:solidFill>
          <a:ln xmlns:a="http://schemas.openxmlformats.org/drawingml/2006/main" w="0">
            <a:solidFill>
              <a:srgbClr val="B65C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D1465-2FD5-42A0-8C25-6B139C89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rentevast reset +200 bps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0B43F-B52A-4980-8AC8-64BFAF33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95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C3A"/>
          </a:solidFill>
          <a:ln xmlns:a="http://schemas.openxmlformats.org/drawingml/2006/main" w="0">
            <a:solidFill>
              <a:srgbClr val="B65C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CCC833-0E0A-43BD-9BD3-9E25830F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energy-label transition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105288-5C31-46E7-ACE1-EA4F96A3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2575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BD901E-1727-478F-ACB3-533D0350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257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2"/>
          </a:solidFill>
          <a:ln xmlns:a="http://schemas.openxmlformats.org/drawingml/2006/main" w="0">
            <a:solidFill>
              <a:srgbClr val="C692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80F55-EA9E-419B-9517-89323026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431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SICR triggers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A41D51-2E23-415D-8EAF-023D3BCF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Stage moves require explainable reasons.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C84515-88B8-46BA-BD26-8B129A86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95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2"/>
          </a:solidFill>
          <a:ln xmlns:a="http://schemas.openxmlformats.org/drawingml/2006/main" w="0">
            <a:solidFill>
              <a:srgbClr val="C6923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9149A8-FFE9-48ED-8DD7-B2D87DBC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480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PD lifetime uplift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929B21-D130-4B7F-AC92-82CE1A9A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95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2"/>
          </a:solidFill>
          <a:ln xmlns:a="http://schemas.openxmlformats.org/drawingml/2006/main" w="0">
            <a:solidFill>
              <a:srgbClr val="C6923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65F787-DDC8-4494-9684-E1644AEF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4810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30 dpd backstop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AA78F5-D0B6-47DE-B352-82106997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95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2"/>
          </a:solidFill>
          <a:ln xmlns:a="http://schemas.openxmlformats.org/drawingml/2006/main" w="0">
            <a:solidFill>
              <a:srgbClr val="C6923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C382EF-A0AB-40FC-8610-759A18A4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481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forbearance / watch list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0A6672-50F8-4990-8F06-E53CB974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95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2"/>
          </a:solidFill>
          <a:ln xmlns:a="http://schemas.openxmlformats.org/drawingml/2006/main" w="0">
            <a:solidFill>
              <a:srgbClr val="C6923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F84945-D31B-4734-B75D-36218C2A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64820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macro and climate overlays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EF1035-3678-41CA-8367-7F8A8C91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32575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0CA8B9-C860-4820-AF2A-8E4DD529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3257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2C7A7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5D7A06-3501-4D55-AA17-093D475B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431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Anomaly detection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C80734-918B-4FFE-968C-B0E8B87F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Unexpected loans remain reviewable.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21F806-D9C8-45AF-84D5-C42ADD97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95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2C7A7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8A1E08-1BF6-4D4C-8105-07C00615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480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vintage drift lines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B013A1-C35B-4371-ADA0-6D2BB997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95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2C7A7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CCA301-40C9-4046-859F-00FC9878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4810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KS-test distribution shift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400941-6238-40A8-9B48-EEDD8C19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95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2C7A7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F354B4-B290-47CD-9D06-EFD82BA2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481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isolation forest outliers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7C645D-F538-41A2-9650-BE150041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95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2C7A7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5D062C-CE56-4826-874E-E578489C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4820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rule fallback if model fails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4488BF-C893-47F7-87A7-5456029B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8115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DEA99D-D7EB-4D45-B21D-94CBB8FB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810250"/>
            <a:ext cx="7581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Eval rubrics pin expected behavior: validation recall, stress delta within 2%, and SICR recall/specificity.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4CCD91-FCFB-401A-9FD9-16A55646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docs/domain-primer.md, evals/rubrics/stress_scenario.md, evals/rubrics/sicr_triggers.md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451934-FD83-4046-BC6C-E467CBE3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572834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49DCAE-E744-48E6-9E07-7024F43B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F6F3EC"/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75D66732-F7F6-42DF-8D77-125E21A7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2"/>
          </a:solidFill>
          <a:ln xmlns:a="http://schemas.openxmlformats.org/drawingml/2006/main" w="0">
            <a:solidFill>
              <a:srgbClr val="C69232"/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AE40C027-DFD3-45BA-9328-C5071897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8D006-739C-47D7-BE27-D17439FC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Governance gates control both portfolio runs and AI-assisted code changes.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30909-3415-4F0A-A0B3-C30E2249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project scope includes the harness that makes AI-authored regulated analytics reviewable.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31232-6B82-4320-8491-5A4540BF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179EF-A850-4156-9B2B-AB96CE74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9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2C7A7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03FF1-81E8-4E72-B5EE-15ACE932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1st 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1ECCB-8E0C-40DE-A411-EDA4CEB6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Credit Risk Portfolio Analytics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C8256-82DC-4DFB-A4CD-BDB2FEC9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builds, runs, documents, owns output 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46319-6007-4BAD-A188-A572B4F2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30BF5-E240-49C1-8CE2-DE6C2615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9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2"/>
          </a:solidFill>
          <a:ln xmlns:a="http://schemas.openxmlformats.org/drawingml/2006/main" w="0">
            <a:solidFill>
              <a:srgbClr val="C692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6B2A4-59E1-42D9-BC33-CCAF9A11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2nd 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7AB60D-95F6-4AB9-98D7-2670F382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71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Model Risk + Compliance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AF574-0F24-4798-9A9D-BCEE5C48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718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challenges methods, approves regulated changes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0123BF-C752-4653-AFF0-2109DC08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24FE4E-2E77-4249-BFAB-61518CA8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9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C3A"/>
          </a:solidFill>
          <a:ln xmlns:a="http://schemas.openxmlformats.org/drawingml/2006/main" w="0">
            <a:solidFill>
              <a:srgbClr val="B65C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CCEE59-836C-4BF2-8C55-8581FB58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3rd 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D8BCF0-BC44-46E3-8B69-ACCC565C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52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Internal Audit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7CD1F1-B243-43F8-B4EC-C53C5D8D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52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assures governance, eval history, AI-Act conformance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EA2433-4D20-4B78-AD19-D880FF04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Build and release gates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5F60D3-C6F1-4D00-9274-91788E40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C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64B3F9-FE07-44B4-9AFE-958F33AD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CI green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13A61D-ACEA-486B-8B32-F60EFEB0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435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ruff + pytest + evals + secrets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451A23-FBF3-4EF8-9B6B-082EC1E7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292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C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569D0A-7546-428F-A78C-CFC856EB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4350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TDD compliance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300EC0-0970-4ED4-9362-2C39BBD9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435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src change has matching tests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70454E-8388-4B01-9F1B-F3DB4A8E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292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C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0C0565-0074-4F16-B5AF-50772EAC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4350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AI trailer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C57EBA-83DF-4400-BB8B-469A2764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435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[ai-assisted] commit marker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4E1473-7394-4904-B397-CFBFECED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C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A57FA6-51D2-41D5-90F8-2AB86587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959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Mass-change guard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2ABD5E-FCC0-4161-80EB-42872B7F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95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 commit over 500 lines requires reason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C5FD0F-CFDB-4C02-B1EC-D066301D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81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C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097C41-DD8E-481A-935F-85650883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959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2nd-line label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22655C-5B32-42E4-B593-069F1792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695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regulated paths need approval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32AD44-55A1-42E0-A325-8592A799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81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C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505BE9-AF00-4E9C-B290-E4C86677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959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Inventory updates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46F769-7724-4CB3-9866-1439B30F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695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new rule appears in model inventory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3758EE-E5FA-497D-ADEC-20654708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docs/governance/three-lines-of-defense.md, change-management.md, raci.md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E9CD3D-503E-4C58-AF66-0455ED94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455667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2663DD-DDB9-4964-BF0A-3A9E5045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F6F3EC"/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FABC2C50-CB33-4CBF-9A02-EEFEAA76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A4F"/>
          </a:solidFill>
          <a:ln xmlns:a="http://schemas.openxmlformats.org/drawingml/2006/main" w="0">
            <a:solidFill>
              <a:srgbClr val="577A4F"/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DCE639CE-E0A0-4C0C-ABFD-6C81506C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7A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77A4F"/>
                </a:solidFill>
                <a:latin typeface="Aptos"/>
                <a:ea typeface="Aptos"/>
                <a:cs typeface="Aptos"/>
              </a:rPr>
              <a:t>DASHBOARDS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AE33B-43B3-40BB-9ED4-FAD49EC8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Dashboards are scoped as decision surfaces, with governance as the audit hub.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D1369-B5CD-435B-9498-BBA9203B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UI stays thin: every page reads from library outputs and exposes purpose, limits, status, and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42B23-45A5-45E9-991E-BDA8A0EE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14650"/>
            <a:ext cx="32766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B83AB-A2E3-4BA1-9C0F-B0E4AEE9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43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Page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98ECF-1B9A-4378-9718-C2C9426A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1850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6F3E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6F3EC"/>
                </a:solidFill>
                <a:latin typeface="Aptos Display"/>
                <a:ea typeface="Aptos Display"/>
                <a:cs typeface="Aptos Display"/>
              </a:rPr>
              <a:t>Governance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36E1F-75AD-418E-B277-BB8420C8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1000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D2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D2C7"/>
                </a:solidFill>
                <a:latin typeface="Aptos"/>
                <a:ea typeface="Aptos"/>
                <a:cs typeface="Aptos"/>
              </a:rPr>
              <a:t>Ops pipeline + build pipeline + incidents + sign-off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7F353-267F-42ED-BB95-B87AC8C0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28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07D24-1C62-4EF9-94B1-11E0BF13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C3A"/>
          </a:solidFill>
          <a:ln xmlns:a="http://schemas.openxmlformats.org/drawingml/2006/main" w="0">
            <a:solidFill>
              <a:srgbClr val="B65C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4AB43-2E98-4338-9ABF-525A7358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Page 1 Quick Scan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3BFC6-3202-4719-9D5B-4ECF7F55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exposure, PD, LTV, stage mix, NHG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0C48C-CF46-479F-980A-C7873FDA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28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AABB5-65F7-4496-B256-94E42C67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2C7A7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13BF0D-2866-44BB-A266-47721677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193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Page 2 Portfolio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7042EB-54C3-42E8-8402-25D0480F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860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vintage, geo, product and LTV views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7DEF9B-294F-49BD-BB87-DD51A32C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28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3EE085-FE8B-4E36-B3D3-B3E78393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2"/>
          </a:solidFill>
          <a:ln xmlns:a="http://schemas.openxmlformats.org/drawingml/2006/main" w="0">
            <a:solidFill>
              <a:srgbClr val="C692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D9B240-AA12-43D2-8C80-D0621E47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193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Page 3 Stress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A493F7-03EF-4376-A990-241798B0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four NL-tuned scenario waterfalls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527EA-5BA7-403F-9635-C3B090BF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228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8B6B18-B81C-4CF1-A0BB-EFCB8FA6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A9E"/>
          </a:solidFill>
          <a:ln xmlns:a="http://schemas.openxmlformats.org/drawingml/2006/main" w="0">
            <a:solidFill>
              <a:srgbClr val="8C6A9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1392CE-FD7D-423E-A1FE-C3605661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19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Page 4 Trends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2B7163-F8D1-4BA9-9848-C307C805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860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drift, anomalies, per-loan reasons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AC7F6C-FD9D-425A-91F1-6FF7087C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48250"/>
            <a:ext cx="228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C6ADD4-8C37-44E0-AFC4-8AF3FC63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4825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3B31"/>
          </a:solidFill>
          <a:ln xmlns:a="http://schemas.openxmlformats.org/drawingml/2006/main" w="0">
            <a:solidFill>
              <a:srgbClr val="9E3B3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5F495B-0889-4E13-A7DA-89C2906F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578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Page 5 Validation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2B367E-639D-4A0B-AF30-550E8F5E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5245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rule findings and report 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341EA1-0216-4054-A119-C8D28763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48250"/>
            <a:ext cx="228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96ED62-689B-42F6-84B5-A1A800C3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4825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A4F"/>
          </a:solidFill>
          <a:ln xmlns:a="http://schemas.openxmlformats.org/drawingml/2006/main" w="0">
            <a:solidFill>
              <a:srgbClr val="577A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ACA710-6AB5-42E2-B08B-8DB98AB9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578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About / Limits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9DA515-1F2E-406B-8075-26B4EB6C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5245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EU AI Act Art. 13 transparency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0C2B9E-1099-4A2F-9BB0-58A633A8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28900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D6D3C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938A85-D46A-4C49-A6AF-29423842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D6D3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917386-A71A-4B52-96F5-1FB9EA98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86050"/>
            <a:ext cx="-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D6D3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795F51-9D55-428F-B66D-23C0D468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-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D6D3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91F692-C119-4C55-BA9C-77DD839A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8640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D6D3C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534B60-51A8-4EB2-A523-54C5D3CE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86400"/>
            <a:ext cx="-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D6D3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910C86-A2F5-4751-8D78-57E4AF56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README.md, docs/architecture.md, app/streamlit_app.py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6D5833-1A84-4973-B298-60C3D983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574682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7BFC95-7063-492B-80ED-28D7FDB7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F6F3EC"/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36F018DD-079B-447B-9047-4642061F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C3A"/>
          </a:solidFill>
          <a:ln xmlns:a="http://schemas.openxmlformats.org/drawingml/2006/main" w="0">
            <a:solidFill>
              <a:srgbClr val="B65C3A"/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1191A154-F032-4A4C-AC73-28CA0916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BUILD-OUT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C16F9-DE0C-4185-B7EB-91AE8567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repo is currently a scaffold with a clear target build-out.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65588-58BD-4308-89AE-4619D009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honest project scope is the product contract plus the staged implementation plan; today, only the foundation is checked 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22730-313F-4875-9A6C-800F524C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3200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B6CE1-0853-481A-BD91-16DD0309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3200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2C7A7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85BB4-89E5-43BD-A7E5-C63CBBFC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Current 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E7400-D77B-465A-9555-8A072204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274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C"/>
          </a:solidFill>
          <a:ln xmlns:a="http://schemas.openxmlformats.org/drawingml/2006/main" w="0">
            <a:solidFill>
              <a:srgbClr val="EEE9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4E7E2-2CCE-49CF-B43B-40E9BD61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813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README and domain docs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51F1D-1D37-46EF-9EB5-67BCE8DD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274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C"/>
          </a:solidFill>
          <a:ln xmlns:a="http://schemas.openxmlformats.org/drawingml/2006/main" w="0">
            <a:solidFill>
              <a:srgbClr val="EEE9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5C416-C2A3-4484-95D0-9CD1C02C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governance and EU AI Act position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8CB79-B174-42FE-88D9-4BC9E2A6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274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C"/>
          </a:solidFill>
          <a:ln xmlns:a="http://schemas.openxmlformats.org/drawingml/2006/main" w="0">
            <a:solidFill>
              <a:srgbClr val="EEE9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5FC9C-56B8-4303-8C53-625806AE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placeholder schema and app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3A356-B480-4128-9A4F-A104BDBE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43450"/>
            <a:ext cx="274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C"/>
          </a:solidFill>
          <a:ln xmlns:a="http://schemas.openxmlformats.org/drawingml/2006/main" w="0">
            <a:solidFill>
              <a:srgbClr val="EEE9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9F5AB3-B4B3-4DC5-8B9F-BFB2F623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387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smoke tests and eval runner skeleton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89F088-094F-40C9-9C1C-C2D4ACB7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66950"/>
            <a:ext cx="3200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CA576-4959-4BA8-9368-F5E53E76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66950"/>
            <a:ext cx="3200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2"/>
          </a:solidFill>
          <a:ln xmlns:a="http://schemas.openxmlformats.org/drawingml/2006/main" w="0">
            <a:solidFill>
              <a:srgbClr val="C692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E5D098-1152-4D85-8DE0-D3082872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717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Next build slice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C43B27-93D8-4493-AD6C-9A760BF1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86100"/>
            <a:ext cx="274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C"/>
          </a:solidFill>
          <a:ln xmlns:a="http://schemas.openxmlformats.org/drawingml/2006/main" w="0">
            <a:solidFill>
              <a:srgbClr val="EEE9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8793FC-BB45-44C0-B0CA-377A55E9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813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full Dutch mortgage schema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B672D5-31CF-4FA0-A106-536E1C60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38550"/>
            <a:ext cx="274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C"/>
          </a:solidFill>
          <a:ln xmlns:a="http://schemas.openxmlformats.org/drawingml/2006/main" w="0">
            <a:solidFill>
              <a:srgbClr val="EEE9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1A44EE-CA33-4C62-A2CB-51FF7CAA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338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deterministic tape generator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3C8770-C682-4494-891D-EAE26E57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91000"/>
            <a:ext cx="274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C"/>
          </a:solidFill>
          <a:ln xmlns:a="http://schemas.openxmlformats.org/drawingml/2006/main" w="0">
            <a:solidFill>
              <a:srgbClr val="EEE9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F661D6-00E0-4756-AC88-91399F73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86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validation rules and reports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73F33A-3957-45A6-B7D8-5BCD964E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743450"/>
            <a:ext cx="274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C"/>
          </a:solidFill>
          <a:ln xmlns:a="http://schemas.openxmlformats.org/drawingml/2006/main" w="0">
            <a:solidFill>
              <a:srgbClr val="EEE9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38C1FA-7FF2-45D2-B7AE-63ACB00B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387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quick scan dashboard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FB24C5-A7A9-48F5-8FC7-97E1DF0B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3200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C23B76-ABDF-4B3A-BDAA-3AC2EC69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3200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C3A"/>
          </a:solidFill>
          <a:ln xmlns:a="http://schemas.openxmlformats.org/drawingml/2006/main" w="0">
            <a:solidFill>
              <a:srgbClr val="B65C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7FB1F7-ACA4-42B0-8539-6265D2F2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717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Target platform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2165F3-338E-4B40-AAE4-F217AE12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86100"/>
            <a:ext cx="274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C"/>
          </a:solidFill>
          <a:ln xmlns:a="http://schemas.openxmlformats.org/drawingml/2006/main" w="0">
            <a:solidFill>
              <a:srgbClr val="EEE9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6E9539-73EC-46A1-BEEA-AE48B717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813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portfolio analysis and stress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F115A2-8428-441C-AA4A-BFDECF96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38550"/>
            <a:ext cx="274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C"/>
          </a:solidFill>
          <a:ln xmlns:a="http://schemas.openxmlformats.org/drawingml/2006/main" w="0">
            <a:solidFill>
              <a:srgbClr val="EEE9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63D125-64FB-4B6F-A4B6-F3E0DE9E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338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SICR and ECL analytics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CA164C-3DD4-49FC-8CF5-84638594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274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C"/>
          </a:solidFill>
          <a:ln xmlns:a="http://schemas.openxmlformats.org/drawingml/2006/main" w="0">
            <a:solidFill>
              <a:srgbClr val="EEE9D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A46615-2D71-4E9A-8A76-BBD11732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86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trend and anomaly detection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F482A5-B605-4AB3-A155-5FA48E10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43450"/>
            <a:ext cx="274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C"/>
          </a:solidFill>
          <a:ln xmlns:a="http://schemas.openxmlformats.org/drawingml/2006/main" w="0">
            <a:solidFill>
              <a:srgbClr val="EEE9D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05AE49-AA26-4869-A75A-45C3BACF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387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governance dashboard with audit state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505554-79B9-40E0-8A57-A1E0B7DD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34050"/>
            <a:ext cx="866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305AE9-D8C5-4DA7-BE4B-CB56ACF6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848350"/>
            <a:ext cx="813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Presentation wording separates target scope from implemented status to avoid overstating the current artifact.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0346A8-C38F-409E-8131-415FE489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current code, README.md, docs/build-narrative.md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FE45A1-9652-4049-A67A-35F1F21A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4059338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0F995E-54AB-42DE-81BC-AEDD987D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F8FFA195-8924-4B74-84B5-776FDC3B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2"/>
          </a:solidFill>
          <a:ln xmlns:a="http://schemas.openxmlformats.org/drawingml/2006/main" w="0">
            <a:solidFill>
              <a:srgbClr val="C69232"/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B7B951D4-54F6-43F8-82AF-2D3EB4CC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1A299-1F61-4C54-8FC8-09C01262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382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6F3E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6F3EC"/>
                </a:solidFill>
                <a:latin typeface="Aptos Display"/>
                <a:ea typeface="Aptos Display"/>
                <a:cs typeface="Aptos Display"/>
              </a:rPr>
              <a:t>A reviewer should see one controlled product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1342E-B523-42FA-B5FE-7A62703F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2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2C7"/>
                </a:solidFill>
                <a:latin typeface="Aptos"/>
                <a:ea typeface="Aptos"/>
                <a:cs typeface="Aptos"/>
              </a:rPr>
              <a:t>The scope is not maximum feature volume. It is a defensible path from synthetic tape to risk insight to governed publication.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867BA-578C-4DAF-B7B6-C130E53B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0439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B6F70-853D-4040-98EE-D2E45D24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2C7A7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A1707-6D33-4D8B-9DD1-EFE64AE6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528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In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C6D43-9599-4E2E-A461-60000223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14700"/>
            <a:ext cx="763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3EC"/>
                </a:solidFill>
                <a:latin typeface="Aptos"/>
                <a:ea typeface="Aptos"/>
                <a:cs typeface="Aptos"/>
              </a:rPr>
              <a:t>synthetic Dutch mortgage data, portfolio analytics, validation, stress, anomaly detection, governance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1CBE3-BEB9-44B9-9039-549C5119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10439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CDC43-91FA-4239-B1C5-37BE5406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C3A"/>
          </a:solidFill>
          <a:ln xmlns:a="http://schemas.openxmlformats.org/drawingml/2006/main" w="0">
            <a:solidFill>
              <a:srgbClr val="B65C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DBDC6-92EE-4A80-BDEB-1D5933D3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Out of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EC0C5D-8A9F-4B62-B1AA-626D2EDA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91000"/>
            <a:ext cx="763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3EC"/>
                </a:solidFill>
                <a:latin typeface="Aptos"/>
                <a:ea typeface="Aptos"/>
                <a:cs typeface="Aptos"/>
              </a:rPr>
              <a:t>real production loan data, individual creditworthiness decisions, automated downstream actions, unofficial identity assets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0D9C8-92CC-493B-B438-C3D381CE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10439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1ECB7-B890-4B92-B12F-4EB04CC1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2"/>
          </a:solidFill>
          <a:ln xmlns:a="http://schemas.openxmlformats.org/drawingml/2006/main" w="0">
            <a:solidFill>
              <a:srgbClr val="C692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CDDD4-DC13-441B-9F02-17008CE5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Guardrails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721427-D814-4D5E-9383-6649E36E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67300"/>
            <a:ext cx="763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3EC"/>
                </a:solidFill>
                <a:latin typeface="Aptos"/>
                <a:ea typeface="Aptos"/>
                <a:cs typeface="Aptos"/>
              </a:rPr>
              <a:t>schema as contract, TDD/evals, source-cited rules, fail-gracefully behavior, 1st/2nd/3rd-line ownership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038E08-4554-40D8-B1EF-D905A0FB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019800"/>
            <a:ext cx="925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D2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7D2C7"/>
                </a:solidFill>
                <a:latin typeface="Aptos"/>
                <a:ea typeface="Aptos"/>
                <a:cs typeface="Aptos"/>
              </a:rPr>
              <a:t>Best next demo milestone: implement schema -&gt; generator -&gt; validation -&gt; quick scan, then let the governance dashboard record the run.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1B99B0-6171-49B4-B3AF-92896D9F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repository docs and current 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9CC574-8ED0-4E22-860A-8EC7C9E0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313160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2026-06-08T15:49:08.7470000Z</dcterms:created>
  <dcterms:modified xsi:type="dcterms:W3CDTF">2026-06-08T15:49:08.7470000Z</dcterms:modified>
</coreProperties>
</file>